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6344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测评结果概览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634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语料 47 份能源领域公文 / 1625 个检索片段 · 题库 121 道人工标注题 / 7 种题型 · 判分模型 deepseek-v4-pro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27632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检索效果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69164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融合召回 → 融合 + 重排（113 题平均）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03120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2199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Recall@1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0.5560  →  0.6755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0720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+0.1195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103120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22199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Recall@5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487168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0.8525  →  0.9145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280720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+0.0620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2103120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22199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MRR（平均倒数排名）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487168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0.7303  →  0.8193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80720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+0.0890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51392" y="2103120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222199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nDCG@5（排序质量）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87168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0.7436  →  0.8356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80720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+0.0920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273552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2735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生成质量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3375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121 题平均 · 判分模型独立于生成模型 · 各指标取值 0–1，越高越好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749039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86791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忠实度（faithfulness）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133087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0.8776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453127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答案陈述是否有据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65576" y="3749039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48456" y="386791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相关性（answer_relevancy）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48456" y="4133087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0.8698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48456" y="4453127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答案是否切题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6" y="3749039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386791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精确率（context_precision）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4133087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0.8722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4453127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检索片段是否精准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51392" y="3749039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4272" y="386791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召回率（context_recall）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4272" y="4133087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0.9105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4453127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参考答案是否覆盖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074920"/>
            <a:ext cx="10634472" cy="100584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" y="5202936"/>
            <a:ext cx="1014069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重排收益真实：MRR +0.0890、Recall@1 +0.1195，两组同口径可比，是本报告最可信的结论。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生成质量整体稳定，8 道「答案不在语料中」的题全部正确拒答（拒答率 100%）。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短板集中在表格题与图表题两类，且 table 的问题出在 PDF 抽取层，详见次页。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6344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分题型表现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634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生成指标按题型的热力分布：颜色越深表示越高，每格标注实际数值（拒答题因判定口径不同，已单列不参与均值）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700784"/>
            <a:ext cx="2296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忠实度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0554" y="1700784"/>
            <a:ext cx="2296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相关性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7990" y="1700784"/>
            <a:ext cx="2296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精确率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5425" y="1700784"/>
            <a:ext cx="2296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召回率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48256"/>
            <a:ext cx="118871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列举题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048256"/>
            <a:ext cx="2296287" cy="434340"/>
          </a:xfrm>
          <a:prstGeom prst="rect">
            <a:avLst/>
          </a:prstGeom>
          <a:solidFill>
            <a:srgbClr val="0D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048256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0.9180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0554" y="2048256"/>
            <a:ext cx="2296287" cy="434340"/>
          </a:xfrm>
          <a:prstGeom prst="rect">
            <a:avLst/>
          </a:prstGeom>
          <a:solidFill>
            <a:srgbClr val="0D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0554" y="2048256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0.9458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77990" y="2048256"/>
            <a:ext cx="2296287" cy="434340"/>
          </a:xfrm>
          <a:prstGeom prst="rect">
            <a:avLst/>
          </a:prstGeom>
          <a:solidFill>
            <a:srgbClr val="09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77990" y="2048256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0.9607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15425" y="2048256"/>
            <a:ext cx="2296287" cy="434340"/>
          </a:xfrm>
          <a:prstGeom prst="rect">
            <a:avLst/>
          </a:prstGeom>
          <a:solidFill>
            <a:srgbClr val="09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5425" y="2048256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0.9940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523744"/>
            <a:ext cx="118871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数值题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2523744"/>
            <a:ext cx="2296287" cy="434340"/>
          </a:xfrm>
          <a:prstGeom prst="rect">
            <a:avLst/>
          </a:prstGeom>
          <a:solidFill>
            <a:srgbClr val="09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2523744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0.9600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0554" y="2523744"/>
            <a:ext cx="2296287" cy="434340"/>
          </a:xfrm>
          <a:prstGeom prst="rect">
            <a:avLst/>
          </a:prstGeom>
          <a:solidFill>
            <a:srgbClr val="09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0554" y="2523744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0.9572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77990" y="2523744"/>
            <a:ext cx="2296287" cy="434340"/>
          </a:xfrm>
          <a:prstGeom prst="rect">
            <a:avLst/>
          </a:prstGeom>
          <a:solidFill>
            <a:srgbClr val="4E9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7990" y="2523744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0.8700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15425" y="2523744"/>
            <a:ext cx="2296287" cy="434340"/>
          </a:xfrm>
          <a:prstGeom prst="rect">
            <a:avLst/>
          </a:prstGeom>
          <a:solidFill>
            <a:srgbClr val="09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5425" y="2523744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0.9600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999232"/>
            <a:ext cx="118871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事实题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999232"/>
            <a:ext cx="2296287" cy="434340"/>
          </a:xfrm>
          <a:prstGeom prst="rect">
            <a:avLst/>
          </a:prstGeom>
          <a:solidFill>
            <a:srgbClr val="4E9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03120" y="2999232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0.8750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40554" y="2999232"/>
            <a:ext cx="2296287" cy="434340"/>
          </a:xfrm>
          <a:prstGeom prst="rect">
            <a:avLst/>
          </a:prstGeom>
          <a:solidFill>
            <a:srgbClr val="0D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0554" y="2999232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0.9090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7990" y="2999232"/>
            <a:ext cx="2296287" cy="434340"/>
          </a:xfrm>
          <a:prstGeom prst="rect">
            <a:avLst/>
          </a:prstGeom>
          <a:solidFill>
            <a:srgbClr val="09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77990" y="2999232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0.9586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15425" y="2999232"/>
            <a:ext cx="2296287" cy="434340"/>
          </a:xfrm>
          <a:prstGeom prst="rect">
            <a:avLst/>
          </a:prstGeom>
          <a:solidFill>
            <a:srgbClr val="09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5425" y="2999232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1.0000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474720"/>
            <a:ext cx="118871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图表题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3474720"/>
            <a:ext cx="2296287" cy="434340"/>
          </a:xfrm>
          <a:prstGeom prst="rect">
            <a:avLst/>
          </a:prstGeom>
          <a:solidFill>
            <a:srgbClr val="7E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3474720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0.7278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40554" y="3474720"/>
            <a:ext cx="2296287" cy="434340"/>
          </a:xfrm>
          <a:prstGeom prst="rect">
            <a:avLst/>
          </a:prstGeom>
          <a:solidFill>
            <a:srgbClr val="0D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0554" y="3474720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0.9482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77990" y="3474720"/>
            <a:ext cx="2296287" cy="434340"/>
          </a:xfrm>
          <a:prstGeom prst="rect">
            <a:avLst/>
          </a:prstGeom>
          <a:solidFill>
            <a:srgbClr val="0D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77990" y="3474720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0.9411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15425" y="3474720"/>
            <a:ext cx="2296287" cy="434340"/>
          </a:xfrm>
          <a:prstGeom prst="rect">
            <a:avLst/>
          </a:prstGeom>
          <a:solidFill>
            <a:srgbClr val="0D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15425" y="3474720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3950208"/>
            <a:ext cx="118871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多跳题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3950208"/>
            <a:ext cx="2296287" cy="434340"/>
          </a:xfrm>
          <a:prstGeom prst="rect">
            <a:avLst/>
          </a:prstGeom>
          <a:solidFill>
            <a:srgbClr val="4E9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03120" y="3950208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0.8248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40554" y="3950208"/>
            <a:ext cx="2296287" cy="434340"/>
          </a:xfrm>
          <a:prstGeom prst="rect">
            <a:avLst/>
          </a:prstGeom>
          <a:solidFill>
            <a:srgbClr val="0D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40554" y="3950208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0.9497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77990" y="3950208"/>
            <a:ext cx="2296287" cy="434340"/>
          </a:xfrm>
          <a:prstGeom prst="rect">
            <a:avLst/>
          </a:prstGeom>
          <a:solidFill>
            <a:srgbClr val="4E9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77990" y="3950208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0.8917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15425" y="3950208"/>
            <a:ext cx="2296287" cy="434340"/>
          </a:xfrm>
          <a:prstGeom prst="rect">
            <a:avLst/>
          </a:prstGeom>
          <a:solidFill>
            <a:srgbClr val="09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15425" y="3950208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0.9643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425696"/>
            <a:ext cx="118871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表格题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03120" y="4425696"/>
            <a:ext cx="2296287" cy="434340"/>
          </a:xfrm>
          <a:prstGeom prst="rect">
            <a:avLst/>
          </a:prstGeom>
          <a:solidFill>
            <a:srgbClr val="4E9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0" y="4425696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0.8667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40554" y="4425696"/>
            <a:ext cx="2296287" cy="434340"/>
          </a:xfrm>
          <a:prstGeom prst="rect">
            <a:avLst/>
          </a:prstGeom>
          <a:solidFill>
            <a:srgbClr val="4E9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40554" y="4425696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0.8427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77990" y="4425696"/>
            <a:ext cx="2296287" cy="434340"/>
          </a:xfrm>
          <a:prstGeom prst="rect">
            <a:avLst/>
          </a:prstGeom>
          <a:solidFill>
            <a:srgbClr val="7E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77990" y="4425696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0.7064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15425" y="4425696"/>
            <a:ext cx="2296287" cy="434340"/>
          </a:xfrm>
          <a:prstGeom prst="rect">
            <a:avLst/>
          </a:prstGeom>
          <a:solidFill>
            <a:srgbClr val="0D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15425" y="4425696"/>
            <a:ext cx="2296287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0.9487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4992624"/>
            <a:ext cx="118871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指标值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03120" y="4992624"/>
            <a:ext cx="841248" cy="219456"/>
          </a:xfrm>
          <a:prstGeom prst="roundRect">
            <a:avLst>
              <a:gd name="adj" fmla="val 16667"/>
            </a:avLst>
          </a:prstGeom>
          <a:solidFill>
            <a:srgbClr val="7E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03120" y="4992624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&lt;0.82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980944" y="4992624"/>
            <a:ext cx="841248" cy="219456"/>
          </a:xfrm>
          <a:prstGeom prst="roundRect">
            <a:avLst>
              <a:gd name="adj" fmla="val 16667"/>
            </a:avLst>
          </a:prstGeom>
          <a:solidFill>
            <a:srgbClr val="4E9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80944" y="4992624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0.82–0.90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58768" y="4992624"/>
            <a:ext cx="841248" cy="219456"/>
          </a:xfrm>
          <a:prstGeom prst="roundRect">
            <a:avLst>
              <a:gd name="adj" fmla="val 16667"/>
            </a:avLst>
          </a:prstGeom>
          <a:solidFill>
            <a:srgbClr val="0D7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58768" y="4992624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0.90–0.95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736592" y="4992624"/>
            <a:ext cx="841248" cy="219456"/>
          </a:xfrm>
          <a:prstGeom prst="roundRect">
            <a:avLst>
              <a:gd name="adj" fmla="val 16667"/>
            </a:avLst>
          </a:prstGeom>
          <a:solidFill>
            <a:srgbClr val="09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36592" y="4992624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≥0.95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7240" y="5413248"/>
            <a:ext cx="10634472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4128" y="5541264"/>
            <a:ext cx="10140696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检索侧同样集中在这两类：表格题 Recall@1 仅 0.2308，图表题 Recall@5 仅 0.7333（15 题中有 4 题完全找不到目标片段）。</a:t>
            </a:r>
          </a:p>
          <a:p>
            <a:pPr>
              <a:lnSpc>
                <a:spcPct val="135000"/>
              </a:lnSpc>
            </a:pPr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表格题根因已定位到抽取层：PDF 表格把「额定容量」列与下一行序号粘连（800 + 2 → “8002”），容量列实际丢失，</a:t>
            </a:r>
          </a:p>
          <a:p>
            <a:pPr>
              <a:lnSpc>
                <a:spcPct val="135000"/>
              </a:lnSpc>
            </a:pPr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答案对但证据不可查；图表题则是图内数据依赖视觉模型生成的描述入库，标注与片段边界也对不上。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6344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判分可靠性核查与改进方向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634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四个指标全部依赖模型判分，因此另做不依赖模型的确定性校验，并对低分题逐题人工复核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27632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核查结果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2199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确定性数字校验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94.2%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0720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179/190 个数字原文可查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2103120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222199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判为低分的题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487168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10 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80720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非拒答题中忠实度 &lt; 0.5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2103120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22199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其中误报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487168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5 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80720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A3412"/>
                </a:solidFill>
                <a:latin typeface="微软雅黑"/>
                <a:ea typeface="微软雅黑"/>
                <a:cs typeface="微软雅黑"/>
              </a:rPr>
              <a:t>要点逐条在上下文里，仍被判低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2103120"/>
            <a:ext cx="2551176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4272" y="2221991"/>
            <a:ext cx="2185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真实数字错误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487168"/>
            <a:ext cx="2185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2 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80720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占含数字题目的 3%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273552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2735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真实错误样本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749039"/>
            <a:ext cx="10634472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3877055"/>
            <a:ext cx="10140696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无据硬答（最该修）：检索零命中时改用参数记忆作答，答成「2025 年底前基本实现全覆盖」，正确为「2027 年前正式运行」。</a:t>
            </a:r>
          </a:p>
          <a:p>
            <a:pPr>
              <a:lnSpc>
                <a:spcPct val="135000"/>
              </a:lnSpc>
            </a:pPr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表格串数：绿证消费主体应为 5.9 万个 / 企业 5.54 万家，答成 7.34 万个 / 6.32 万家，并把「3955 名」写成「3955 万名」。</a:t>
            </a:r>
          </a:p>
          <a:p>
            <a:pPr>
              <a:lnSpc>
                <a:spcPct val="135000"/>
              </a:lnSpc>
            </a:pPr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幻觉式「无数据」：声称文档未提供各国产量占比，而文档中就有 23.7% / 21.5% / 19.4%。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029200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29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改进方向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486400"/>
            <a:ext cx="10634472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614416"/>
            <a:ext cx="10140696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把拒答题单列指标（本次拒答率 100%），不混入四个 RAGAS 均值 —— 否则正确拒答会把答案相关性压低约 0.05。</a:t>
            </a:r>
          </a:p>
          <a:p>
            <a:pPr>
              <a:lnSpc>
                <a:spcPct val="135000"/>
              </a:lnSpc>
            </a:pPr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将确定性数字校验常态化为交叉验证指标；它已抓到忠实度漏报的真错误，成本几乎为零。</a:t>
            </a:r>
          </a:p>
          <a:p>
            <a:pPr>
              <a:lnSpc>
                <a:spcPct val="135000"/>
              </a:lnSpc>
            </a:pPr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▪ 修 is_relevant 判分口径、并对表格区域做结构化抽取 —— 前者让召回率从下界变真值，后者解决列粘连。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