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4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printerSettings" Target="printerSettings/printerSettings1.bin" /><Relationship Id="rId3" Type="http://schemas.openxmlformats.org/officeDocument/2006/relationships/presProps" Target="presProps.xml" /><Relationship Id="rId4" Type="http://schemas.openxmlformats.org/officeDocument/2006/relationships/viewProps" Target="viewProps.xml" /><Relationship Id="rId5" Type="http://schemas.openxmlformats.org/officeDocument/2006/relationships/theme" Target="theme/theme1.xml" /><Relationship Id="rId6" Type="http://schemas.openxmlformats.org/officeDocument/2006/relationships/tableStyles" Target="tableStyles.xml" /><Relationship Id="rId7" Type="http://schemas.openxmlformats.org/officeDocument/2006/relationships/slide" Target="slides/slide1.xml" /><Relationship Id="rId8" Type="http://schemas.openxmlformats.org/officeDocument/2006/relationships/slide" Target="slides/slide2.xml" /><Relationship Id="rId9" Type="http://schemas.openxmlformats.org/officeDocument/2006/relationships/slide" Target="slides/slide3.xml" /><Relationship Id="rId10" Type="http://schemas.openxmlformats.org/officeDocument/2006/relationships/slide" Target="slides/slide4.xml" 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energy-rag-repor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energy-rag-repor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
  <Relationship Id="rId1" Type="http://schemas.openxmlformats.org/officeDocument/2006/relationships/slideLayout" Target="../slideLayouts/slideLayout7.xml" />
</Relationships>
</file>

<file path=ppt/slides/_rels/slide2.xml.rels><?xml version='1.0' encoding='utf-8'?>
<Relationships xmlns="http://schemas.openxmlformats.org/package/2006/relationships">
  <Relationship Id="rId1" Type="http://schemas.openxmlformats.org/officeDocument/2006/relationships/slideLayout" Target="../slideLayouts/slideLayout7.xml" />
</Relationships>
</file>

<file path=ppt/slides/_rels/slide3.xml.rels><?xml version='1.0' encoding='utf-8'?>
<Relationships xmlns="http://schemas.openxmlformats.org/package/2006/relationships">
  <Relationship Id="rId1" Type="http://schemas.openxmlformats.org/officeDocument/2006/relationships/slideLayout" Target="../slideLayouts/slideLayout7.xml" />
</Relationships>
</file>

<file path=ppt/slides/_rels/slide4.xml.rels><?xml version='1.0' encoding='utf-8'?>
<Relationships xmlns="http://schemas.openxmlformats.org/package/2006/relationships">
  <Relationship Id="rId1" Type="http://schemas.openxmlformats.org/officeDocument/2006/relationships/slideLayout" Target="../slideLayouts/slideLayout7.xml" />
</Relationships>
</file>

<file path=ppt/slides/slide1.xml><?xml version="1.0" encoding="utf-8"?>
<p:sld xmlns:a="http://schemas.openxmlformats.org/drawingml/2006/main" xmlns:p="http://schemas.openxmlformats.org/presentationml/2006/main" xmlns:p14="http://schemas.microsoft.com/office/powerpoint/2010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header"/>
          <p:cNvGrpSpPr/>
          <p:nvPr/>
        </p:nvGrpSpPr>
        <p:grpSpPr>
          <a:xfrm>
            <a:off x="594360" y="749300"/>
            <a:ext cx="4610100" cy="1422400"/>
            <a:chOff x="594360" y="749300"/>
            <a:chExt cx="4610100" cy="1422400"/>
          </a:xfrm>
        </p:grpSpPr>
        <p:grpSp>
          <p:nvGrpSpPr>
            <p:cNvPr id="4" name="Group 4"/>
            <p:cNvGrpSpPr/>
            <p:nvPr/>
          </p:nvGrpSpPr>
          <p:grpSpPr>
            <a:xfrm>
              <a:off x="631031" y="821531"/>
              <a:ext cx="128588" cy="71438"/>
              <a:chOff x="631031" y="821531"/>
              <a:chExt cx="128588" cy="71438"/>
            </a:xfrm>
          </p:grpSpPr>
          <p:sp>
            <p:nvSpPr>
              <p:cNvPr id="2" name="Freeform 2"/>
              <p:cNvSpPr/>
              <p:nvPr/>
            </p:nvSpPr>
            <p:spPr>
              <a:xfrm>
                <a:off x="631031" y="821531"/>
                <a:ext cx="128588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128588" h="71438">
                    <a:moveTo>
                      <a:pt x="0" y="71438"/>
                    </a:moveTo>
                    <a:lnTo>
                      <a:pt x="42862" y="28575"/>
                    </a:lnTo>
                    <a:lnTo>
                      <a:pt x="71438" y="57150"/>
                    </a:lnTo>
                    <a:lnTo>
                      <a:pt x="128588" y="0"/>
                    </a:lnTo>
                  </a:path>
                </a:pathLst>
              </a:custGeom>
              <a:noFill/>
              <a:ln w="14288">
                <a:solidFill>
                  <a:schemeClr val="accent2"/>
                </a:solidFill>
              </a:ln>
            </p:spPr>
          </p:sp>
          <p:sp>
            <p:nvSpPr>
              <p:cNvPr id="3" name="Freeform 3"/>
              <p:cNvSpPr/>
              <p:nvPr/>
            </p:nvSpPr>
            <p:spPr>
              <a:xfrm>
                <a:off x="709612" y="821531"/>
                <a:ext cx="50006" cy="50006"/>
              </a:xfrm>
              <a:custGeom>
                <a:avLst/>
                <a:gdLst/>
                <a:ahLst/>
                <a:cxnLst/>
                <a:rect l="l" t="t" r="r" b="b"/>
                <a:pathLst>
                  <a:path w="50006" h="50006">
                    <a:moveTo>
                      <a:pt x="0" y="0"/>
                    </a:moveTo>
                    <a:lnTo>
                      <a:pt x="50006" y="0"/>
                    </a:lnTo>
                    <a:lnTo>
                      <a:pt x="50006" y="50006"/>
                    </a:lnTo>
                  </a:path>
                </a:pathLst>
              </a:custGeom>
              <a:noFill/>
              <a:ln w="14288">
                <a:solidFill>
                  <a:schemeClr val="accent2"/>
                </a:solidFill>
              </a:ln>
            </p:spPr>
          </p:sp>
        </p:grpSp>
        <p:sp>
          <p:nvSpPr>
            <p:cNvPr id="5" name="TextBox 5"/>
            <p:cNvSpPr txBox="1"/>
            <p:nvPr/>
          </p:nvSpPr>
          <p:spPr>
            <a:xfrm>
              <a:off x="850392" y="7493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内部技术汇报 · 2026-10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4360" y="1079500"/>
              <a:ext cx="461010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能源文档 RAG 问答系统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98170" y="1651000"/>
              <a:ext cx="290322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近期改动与当前状况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" y="2133600"/>
              <a:ext cx="1143000" cy="38100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positioning"/>
          <p:cNvGrpSpPr/>
          <p:nvPr/>
        </p:nvGrpSpPr>
        <p:grpSpPr>
          <a:xfrm>
            <a:off x="600456" y="2654300"/>
            <a:ext cx="6894576" cy="644144"/>
            <a:chOff x="600456" y="2654300"/>
            <a:chExt cx="6894576" cy="644144"/>
          </a:xfrm>
        </p:grpSpPr>
        <p:sp>
          <p:nvSpPr>
            <p:cNvPr id="10" name="TextBox 10"/>
            <p:cNvSpPr txBox="1"/>
            <p:nvPr/>
          </p:nvSpPr>
          <p:spPr>
            <a:xfrm>
              <a:off x="602742" y="26543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项目定位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00456" y="2946400"/>
              <a:ext cx="6894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面向中文能源与政务文档的本地化 RAG 问答系统，数据不出域。</a:t>
              </a:r>
            </a:p>
          </p:txBody>
        </p:sp>
      </p:grpSp>
      <p:grpSp>
        <p:nvGrpSpPr>
          <p:cNvPr id="26" name="stack"/>
          <p:cNvGrpSpPr/>
          <p:nvPr/>
        </p:nvGrpSpPr>
        <p:grpSpPr>
          <a:xfrm>
            <a:off x="600456" y="3662362"/>
            <a:ext cx="10171716" cy="690182"/>
            <a:chOff x="600456" y="3662362"/>
            <a:chExt cx="10171716" cy="690182"/>
          </a:xfrm>
        </p:grpSpPr>
        <p:grpSp>
          <p:nvGrpSpPr>
            <p:cNvPr id="23" name="Group 23"/>
            <p:cNvGrpSpPr/>
            <p:nvPr/>
          </p:nvGrpSpPr>
          <p:grpSpPr>
            <a:xfrm>
              <a:off x="652462" y="3662362"/>
              <a:ext cx="257175" cy="257175"/>
              <a:chOff x="652462" y="3662362"/>
              <a:chExt cx="257175" cy="257175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681038" y="3690938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0" y="14288"/>
                    </a:moveTo>
                    <a:cubicBezTo>
                      <a:pt x="0" y="6397"/>
                      <a:pt x="6397" y="0"/>
                      <a:pt x="14288" y="0"/>
                    </a:cubicBezTo>
                    <a:lnTo>
                      <a:pt x="185738" y="0"/>
                    </a:lnTo>
                    <a:cubicBezTo>
                      <a:pt x="193628" y="0"/>
                      <a:pt x="200025" y="6397"/>
                      <a:pt x="200025" y="14288"/>
                    </a:cubicBezTo>
                    <a:lnTo>
                      <a:pt x="200025" y="185738"/>
                    </a:lnTo>
                    <a:cubicBezTo>
                      <a:pt x="200025" y="193628"/>
                      <a:pt x="193628" y="200025"/>
                      <a:pt x="185738" y="200025"/>
                    </a:cubicBezTo>
                    <a:lnTo>
                      <a:pt x="14288" y="200025"/>
                    </a:lnTo>
                    <a:cubicBezTo>
                      <a:pt x="6397" y="200025"/>
                      <a:pt x="0" y="193628"/>
                      <a:pt x="0" y="185738"/>
                    </a:cubicBezTo>
                    <a:lnTo>
                      <a:pt x="0" y="14288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738188" y="3748088"/>
                <a:ext cx="8572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85725">
                    <a:moveTo>
                      <a:pt x="0" y="0"/>
                    </a:moveTo>
                    <a:lnTo>
                      <a:pt x="85725" y="0"/>
                    </a:lnTo>
                    <a:lnTo>
                      <a:pt x="85725" y="85725"/>
                    </a:lnTo>
                    <a:lnTo>
                      <a:pt x="0" y="85725"/>
                    </a:lnTo>
                    <a:lnTo>
                      <a:pt x="0" y="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652462" y="376237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0" y="0"/>
                    </a:moveTo>
                    <a:lnTo>
                      <a:pt x="28575" y="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652462" y="381952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0" y="0"/>
                    </a:moveTo>
                    <a:lnTo>
                      <a:pt x="28575" y="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752475" y="3662362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09625" y="3662362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881062" y="376237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28575" y="0"/>
                    </a:moveTo>
                    <a:lnTo>
                      <a:pt x="0" y="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81062" y="381952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28575" y="0"/>
                    </a:moveTo>
                    <a:lnTo>
                      <a:pt x="0" y="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09625" y="3890962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28575"/>
                    </a:moveTo>
                    <a:lnTo>
                      <a:pt x="0" y="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752475" y="3890962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28575"/>
                    </a:moveTo>
                    <a:lnTo>
                      <a:pt x="0" y="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059942" y="368300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技术栈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00456" y="4000500"/>
              <a:ext cx="101717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Qwen3-14B-4bit / Qwen3-VL-8B / bge-m3 / bge-reranker-v2-m3 / Milvus / BM25+RRF</a:t>
              </a:r>
            </a:p>
          </p:txBody>
        </p:sp>
      </p:grpSp>
      <p:grpSp>
        <p:nvGrpSpPr>
          <p:cNvPr id="36" name="stat-band"/>
          <p:cNvGrpSpPr/>
          <p:nvPr/>
        </p:nvGrpSpPr>
        <p:grpSpPr>
          <a:xfrm>
            <a:off x="609600" y="4762500"/>
            <a:ext cx="10972800" cy="1295400"/>
            <a:chOff x="609600" y="4762500"/>
            <a:chExt cx="10972800" cy="1295400"/>
          </a:xfrm>
        </p:grpSpPr>
        <p:sp>
          <p:nvSpPr>
            <p:cNvPr id="27" name="Rectangle 27"/>
            <p:cNvSpPr/>
            <p:nvPr/>
          </p:nvSpPr>
          <p:spPr>
            <a:xfrm>
              <a:off x="609600" y="4762500"/>
              <a:ext cx="10972800" cy="1295400"/>
            </a:xfrm>
            <a:prstGeom prst="roundRect">
              <a:avLst>
                <a:gd name="adj" fmla="val 2941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8" name="Line 28"/>
            <p:cNvSpPr/>
            <p:nvPr/>
          </p:nvSpPr>
          <p:spPr>
            <a:xfrm>
              <a:off x="4267200" y="4991100"/>
              <a:ext cx="9525" cy="838200"/>
            </a:xfrm>
            <a:custGeom>
              <a:avLst/>
              <a:gdLst/>
              <a:ahLst/>
              <a:cxnLst/>
              <a:rect l="l" t="t" r="r" b="b"/>
              <a:pathLst>
                <a:path w="9525" h="838200">
                  <a:moveTo>
                    <a:pt x="0" y="0"/>
                  </a:moveTo>
                  <a:lnTo>
                    <a:pt x="0" y="83820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9" name="Line 29"/>
            <p:cNvSpPr/>
            <p:nvPr/>
          </p:nvSpPr>
          <p:spPr>
            <a:xfrm>
              <a:off x="7924800" y="4991100"/>
              <a:ext cx="9525" cy="838200"/>
            </a:xfrm>
            <a:custGeom>
              <a:avLst/>
              <a:gdLst/>
              <a:ahLst/>
              <a:cxnLst/>
              <a:rect l="l" t="t" r="r" b="b"/>
              <a:pathLst>
                <a:path w="9525" h="838200">
                  <a:moveTo>
                    <a:pt x="0" y="0"/>
                  </a:moveTo>
                  <a:lnTo>
                    <a:pt x="0" y="83820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795462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语料规模（份）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677305" y="5410200"/>
              <a:ext cx="152219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25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 xml:space="preserve">47 → </a:t>
              </a:r>
              <a:r>
                <a:rPr lang="zh-CN" sz="225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1164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453062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全量重建失败数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001274" y="5410200"/>
              <a:ext cx="18945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250" dirty="0">
                  <a:solidFill>
                    <a:srgbClr val="2E7D32"/>
                  </a:solidFill>
                  <a:latin typeface="Consolas"/>
                  <a:ea typeface="Consolas"/>
                  <a:cs typeface="Consolas"/>
                </a:rPr>
                <a:t>0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9794" y="50355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真实幻觉率（约）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575578" y="5410200"/>
              <a:ext cx="35604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25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3%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603504" y="6438900"/>
            <a:ext cx="10984992" cy="234696"/>
            <a:chOff x="603504" y="6438900"/>
            <a:chExt cx="10984992" cy="234696"/>
          </a:xfrm>
        </p:grpSpPr>
        <p:sp>
          <p:nvSpPr>
            <p:cNvPr id="37" name="TextBox 37"/>
            <p:cNvSpPr txBox="1"/>
            <p:nvPr/>
          </p:nvSpPr>
          <p:spPr>
            <a:xfrm>
              <a:off x="603504" y="6438900"/>
              <a:ext cx="527852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数据来源：项目内部修复记录与评测日志（2026-09-21 至 2026-10-10）</a:t>
              </a:r>
            </a:p>
          </p:txBody>
        </p:sp>
        <p:sp>
          <p:nvSpPr>
            <p:cNvPr id="38" name="TextBox 38"/>
            <p:cNvSpPr/>
            <p:nvPr/>
          </p:nvSpPr>
          <p:spPr>
            <a:xfrm>
              <a:off x="11035094" y="6438900"/>
              <a:ext cx="5534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r"/>
              <a:r>
                <a:rPr lang="en-US" sz="1200" dirty="0">
                  <a:solidFill>
                    <a:srgbClr val="5A6472"/>
                  </a:solidFill>
                  <a:latin typeface="Arial"/>
                  <a:ea typeface="Arial"/>
                  <a:cs typeface="Arial"/>
                </a:rPr>
                <a:t>01 / 04</a:t>
              </a:r>
            </a:p>
          </p:txBody>
        </p:sp>
      </p:grpSp>
    </p:spTree>
  </p:cSld>
  <p:clrMapOvr>
    <a:masterClrMapping/>
  </p:clrMapOvr>
  <p:transition p14:dur="400">
    <p:fade/>
  </p:transition>
</p:sld>
</file>

<file path=ppt/slides/slide2.xml><?xml version="1.0" encoding="utf-8"?>
<p:sld xmlns:a="http://schemas.openxmlformats.org/drawingml/2006/main" xmlns:p="http://schemas.openxmlformats.org/presentationml/2006/main" xmlns:p14="http://schemas.microsoft.com/office/powerpoint/2010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09600" y="660400"/>
            <a:ext cx="10801350" cy="897255"/>
            <a:chOff x="609600" y="660400"/>
            <a:chExt cx="10801350" cy="897255"/>
          </a:xfrm>
        </p:grpSpPr>
        <p:sp>
          <p:nvSpPr>
            <p:cNvPr id="2" name="Rectangle 2"/>
            <p:cNvSpPr/>
            <p:nvPr/>
          </p:nvSpPr>
          <p:spPr>
            <a:xfrm>
              <a:off x="609600" y="723900"/>
              <a:ext cx="38100" cy="60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22960" y="660400"/>
              <a:ext cx="5193792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近期改动（9/21 – 10/10）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826770" y="1117600"/>
              <a:ext cx="1058418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近三周五类改动：可用性修复、解析迁移、模型换代、评测体系、语料扩充</a:t>
              </a:r>
            </a:p>
          </p:txBody>
        </p:sp>
      </p:grpSp>
      <p:grpSp>
        <p:nvGrpSpPr>
          <p:cNvPr id="12" name="item-fix"/>
          <p:cNvGrpSpPr/>
          <p:nvPr/>
        </p:nvGrpSpPr>
        <p:grpSpPr>
          <a:xfrm>
            <a:off x="609600" y="1822450"/>
            <a:ext cx="10984230" cy="701675"/>
            <a:chOff x="609600" y="1822450"/>
            <a:chExt cx="10984230" cy="701675"/>
          </a:xfrm>
        </p:grpSpPr>
        <p:sp>
          <p:nvSpPr>
            <p:cNvPr id="6" name="Freeform 6"/>
            <p:cNvSpPr/>
            <p:nvPr/>
          </p:nvSpPr>
          <p:spPr>
            <a:xfrm>
              <a:off x="681038" y="1890712"/>
              <a:ext cx="214312" cy="142875"/>
            </a:xfrm>
            <a:custGeom>
              <a:avLst/>
              <a:gdLst/>
              <a:ahLst/>
              <a:cxnLst/>
              <a:rect l="l" t="t" r="r" b="b"/>
              <a:pathLst>
                <a:path w="214312" h="142875">
                  <a:moveTo>
                    <a:pt x="0" y="71438"/>
                  </a:moveTo>
                  <a:lnTo>
                    <a:pt x="71438" y="142875"/>
                  </a:lnTo>
                  <a:lnTo>
                    <a:pt x="214312" y="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95756" y="1822450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代码质量与可用性修复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98042" y="2178050"/>
              <a:ext cx="54749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流式卡死、会话标题注入、模型重复加载、--max-files 误删索引等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848594" y="18351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修复项数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404378" y="2076450"/>
              <a:ext cx="18945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225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8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609600" y="25146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grpSp>
        <p:nvGrpSpPr>
          <p:cNvPr id="24" name="item-mineru"/>
          <p:cNvGrpSpPr/>
          <p:nvPr/>
        </p:nvGrpSpPr>
        <p:grpSpPr>
          <a:xfrm>
            <a:off x="609600" y="2679700"/>
            <a:ext cx="10984230" cy="701675"/>
            <a:chOff x="609600" y="2679700"/>
            <a:chExt cx="10984230" cy="701675"/>
          </a:xfrm>
        </p:grpSpPr>
        <p:grpSp>
          <p:nvGrpSpPr>
            <p:cNvPr id="18" name="Group 18"/>
            <p:cNvGrpSpPr/>
            <p:nvPr/>
          </p:nvGrpSpPr>
          <p:grpSpPr>
            <a:xfrm>
              <a:off x="681038" y="2690812"/>
              <a:ext cx="200025" cy="257175"/>
              <a:chOff x="681038" y="2690812"/>
              <a:chExt cx="200025" cy="257175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809625" y="2690812"/>
                <a:ext cx="71438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71438">
                    <a:moveTo>
                      <a:pt x="0" y="0"/>
                    </a:moveTo>
                    <a:lnTo>
                      <a:pt x="0" y="57150"/>
                    </a:lnTo>
                    <a:cubicBezTo>
                      <a:pt x="0" y="65041"/>
                      <a:pt x="6397" y="71438"/>
                      <a:pt x="14288" y="71438"/>
                    </a:cubicBezTo>
                    <a:lnTo>
                      <a:pt x="71438" y="71438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681038" y="2690812"/>
                <a:ext cx="20002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57175">
                    <a:moveTo>
                      <a:pt x="171450" y="257175"/>
                    </a:moveTo>
                    <a:lnTo>
                      <a:pt x="28575" y="257175"/>
                    </a:lnTo>
                    <a:cubicBezTo>
                      <a:pt x="12793" y="257175"/>
                      <a:pt x="0" y="244382"/>
                      <a:pt x="0" y="228600"/>
                    </a:cubicBezTo>
                    <a:lnTo>
                      <a:pt x="0" y="28575"/>
                    </a:lnTo>
                    <a:cubicBezTo>
                      <a:pt x="0" y="12793"/>
                      <a:pt x="12793" y="0"/>
                      <a:pt x="28575" y="0"/>
                    </a:cubicBezTo>
                    <a:lnTo>
                      <a:pt x="128588" y="0"/>
                    </a:lnTo>
                    <a:lnTo>
                      <a:pt x="200025" y="71438"/>
                    </a:lnTo>
                    <a:lnTo>
                      <a:pt x="200025" y="228600"/>
                    </a:lnTo>
                    <a:cubicBezTo>
                      <a:pt x="200025" y="244382"/>
                      <a:pt x="187232" y="257175"/>
                      <a:pt x="171450" y="257175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738188" y="2776538"/>
                <a:ext cx="1428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288" h="9525">
                    <a:moveTo>
                      <a:pt x="0" y="0"/>
                    </a:moveTo>
                    <a:lnTo>
                      <a:pt x="14288" y="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738188" y="2833688"/>
                <a:ext cx="857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9525">
                    <a:moveTo>
                      <a:pt x="0" y="0"/>
                    </a:moveTo>
                    <a:lnTo>
                      <a:pt x="85725" y="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738188" y="2890838"/>
                <a:ext cx="857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9525">
                    <a:moveTo>
                      <a:pt x="0" y="0"/>
                    </a:moveTo>
                    <a:lnTo>
                      <a:pt x="85725" y="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095756" y="2679700"/>
              <a:ext cx="243205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PDF 解析迁移 MinerU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98042" y="30353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修表格列粘连、消除假表格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848594" y="26924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解析片段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738455" y="2933700"/>
              <a:ext cx="185537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225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1625 → 3604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609600" y="33718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grpSp>
        <p:nvGrpSpPr>
          <p:cNvPr id="33" name="item-model"/>
          <p:cNvGrpSpPr/>
          <p:nvPr/>
        </p:nvGrpSpPr>
        <p:grpSpPr>
          <a:xfrm>
            <a:off x="609600" y="3536950"/>
            <a:ext cx="10984230" cy="701675"/>
            <a:chOff x="609600" y="3536950"/>
            <a:chExt cx="10984230" cy="701675"/>
          </a:xfrm>
        </p:grpSpPr>
        <p:grpSp>
          <p:nvGrpSpPr>
            <p:cNvPr id="27" name="Group 27"/>
            <p:cNvGrpSpPr/>
            <p:nvPr/>
          </p:nvGrpSpPr>
          <p:grpSpPr>
            <a:xfrm>
              <a:off x="666750" y="3556837"/>
              <a:ext cx="228600" cy="239626"/>
              <a:chOff x="666750" y="3556837"/>
              <a:chExt cx="228600" cy="239626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666750" y="3556837"/>
                <a:ext cx="228600" cy="105525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05525">
                    <a:moveTo>
                      <a:pt x="228600" y="105525"/>
                    </a:moveTo>
                    <a:cubicBezTo>
                      <a:pt x="221417" y="53841"/>
                      <a:pt x="180535" y="13355"/>
                      <a:pt x="128783" y="6678"/>
                    </a:cubicBezTo>
                    <a:cubicBezTo>
                      <a:pt x="77031" y="0"/>
                      <a:pt x="27211" y="28782"/>
                      <a:pt x="7144" y="76950"/>
                    </a:cubicBezTo>
                    <a:moveTo>
                      <a:pt x="0" y="19800"/>
                    </a:moveTo>
                    <a:lnTo>
                      <a:pt x="0" y="76950"/>
                    </a:lnTo>
                    <a:lnTo>
                      <a:pt x="57150" y="7695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666750" y="3690938"/>
                <a:ext cx="228600" cy="105525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05525">
                    <a:moveTo>
                      <a:pt x="0" y="0"/>
                    </a:moveTo>
                    <a:cubicBezTo>
                      <a:pt x="7183" y="51684"/>
                      <a:pt x="48065" y="92170"/>
                      <a:pt x="99817" y="98847"/>
                    </a:cubicBezTo>
                    <a:cubicBezTo>
                      <a:pt x="151569" y="105525"/>
                      <a:pt x="201389" y="76743"/>
                      <a:pt x="221456" y="28575"/>
                    </a:cubicBezTo>
                    <a:moveTo>
                      <a:pt x="228600" y="85725"/>
                    </a:moveTo>
                    <a:lnTo>
                      <a:pt x="228600" y="28575"/>
                    </a:lnTo>
                    <a:lnTo>
                      <a:pt x="171450" y="28575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1095756" y="3536950"/>
              <a:ext cx="17145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模型与算力换代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98042" y="3892550"/>
              <a:ext cx="66759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RTX 3080Ti → 4090；Qwen3-8B → 14B-4bit；Qwen2.5-VL-3B → Qwen3-VL-8B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48594" y="35496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生成模型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1042904" y="3790950"/>
              <a:ext cx="55092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2250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14B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609600" y="4229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grpSp>
        <p:nvGrpSpPr>
          <p:cNvPr id="44" name="item-eval"/>
          <p:cNvGrpSpPr/>
          <p:nvPr/>
        </p:nvGrpSpPr>
        <p:grpSpPr>
          <a:xfrm>
            <a:off x="609600" y="4394200"/>
            <a:ext cx="10984230" cy="701675"/>
            <a:chOff x="609600" y="4394200"/>
            <a:chExt cx="10984230" cy="701675"/>
          </a:xfrm>
        </p:grpSpPr>
        <p:grpSp>
          <p:nvGrpSpPr>
            <p:cNvPr id="38" name="Group 38"/>
            <p:cNvGrpSpPr/>
            <p:nvPr/>
          </p:nvGrpSpPr>
          <p:grpSpPr>
            <a:xfrm>
              <a:off x="652462" y="4419600"/>
              <a:ext cx="257175" cy="238125"/>
              <a:chOff x="652462" y="4419600"/>
              <a:chExt cx="257175" cy="2381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52462" y="4533900"/>
                <a:ext cx="85725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114300">
                    <a:moveTo>
                      <a:pt x="0" y="14288"/>
                    </a:moveTo>
                    <a:cubicBezTo>
                      <a:pt x="0" y="6397"/>
                      <a:pt x="6397" y="0"/>
                      <a:pt x="14288" y="0"/>
                    </a:cubicBezTo>
                    <a:lnTo>
                      <a:pt x="71438" y="0"/>
                    </a:lnTo>
                    <a:cubicBezTo>
                      <a:pt x="79328" y="0"/>
                      <a:pt x="85725" y="6397"/>
                      <a:pt x="85725" y="14288"/>
                    </a:cubicBezTo>
                    <a:lnTo>
                      <a:pt x="85725" y="100012"/>
                    </a:lnTo>
                    <a:cubicBezTo>
                      <a:pt x="85725" y="107903"/>
                      <a:pt x="79328" y="114300"/>
                      <a:pt x="71438" y="114300"/>
                    </a:cubicBezTo>
                    <a:lnTo>
                      <a:pt x="14288" y="114300"/>
                    </a:lnTo>
                    <a:cubicBezTo>
                      <a:pt x="6397" y="114300"/>
                      <a:pt x="0" y="107903"/>
                      <a:pt x="0" y="100012"/>
                    </a:cubicBezTo>
                    <a:lnTo>
                      <a:pt x="0" y="14288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23912" y="4476750"/>
                <a:ext cx="8572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171450">
                    <a:moveTo>
                      <a:pt x="0" y="14288"/>
                    </a:moveTo>
                    <a:cubicBezTo>
                      <a:pt x="0" y="6397"/>
                      <a:pt x="6397" y="0"/>
                      <a:pt x="14288" y="0"/>
                    </a:cubicBezTo>
                    <a:lnTo>
                      <a:pt x="71438" y="0"/>
                    </a:lnTo>
                    <a:cubicBezTo>
                      <a:pt x="79328" y="0"/>
                      <a:pt x="85725" y="6397"/>
                      <a:pt x="85725" y="14288"/>
                    </a:cubicBezTo>
                    <a:lnTo>
                      <a:pt x="85725" y="157162"/>
                    </a:lnTo>
                    <a:cubicBezTo>
                      <a:pt x="85725" y="165053"/>
                      <a:pt x="79328" y="171450"/>
                      <a:pt x="71438" y="171450"/>
                    </a:cubicBezTo>
                    <a:lnTo>
                      <a:pt x="14288" y="171450"/>
                    </a:lnTo>
                    <a:cubicBezTo>
                      <a:pt x="6397" y="171450"/>
                      <a:pt x="0" y="165053"/>
                      <a:pt x="0" y="157162"/>
                    </a:cubicBezTo>
                    <a:lnTo>
                      <a:pt x="0" y="14288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738188" y="4419600"/>
                <a:ext cx="857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228600">
                    <a:moveTo>
                      <a:pt x="0" y="14288"/>
                    </a:moveTo>
                    <a:cubicBezTo>
                      <a:pt x="0" y="6397"/>
                      <a:pt x="6397" y="0"/>
                      <a:pt x="14288" y="0"/>
                    </a:cubicBezTo>
                    <a:lnTo>
                      <a:pt x="71438" y="0"/>
                    </a:lnTo>
                    <a:cubicBezTo>
                      <a:pt x="79328" y="0"/>
                      <a:pt x="85725" y="6397"/>
                      <a:pt x="85725" y="14288"/>
                    </a:cubicBezTo>
                    <a:lnTo>
                      <a:pt x="85725" y="214312"/>
                    </a:lnTo>
                    <a:cubicBezTo>
                      <a:pt x="85725" y="222203"/>
                      <a:pt x="79328" y="228600"/>
                      <a:pt x="71438" y="228600"/>
                    </a:cubicBezTo>
                    <a:lnTo>
                      <a:pt x="14288" y="228600"/>
                    </a:lnTo>
                    <a:cubicBezTo>
                      <a:pt x="6397" y="228600"/>
                      <a:pt x="0" y="222203"/>
                      <a:pt x="0" y="214312"/>
                    </a:cubicBezTo>
                    <a:lnTo>
                      <a:pt x="0" y="14288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666750" y="4648200"/>
                <a:ext cx="2000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9525">
                    <a:moveTo>
                      <a:pt x="0" y="0"/>
                    </a:moveTo>
                    <a:lnTo>
                      <a:pt x="200025" y="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1095756" y="4394200"/>
              <a:ext cx="14721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评测体系补强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98042" y="4749800"/>
              <a:ext cx="47933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重排截断 512 → 8192；分层抽样、断点续跑；外部判分模型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703204" y="4406900"/>
              <a:ext cx="8860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hit@1 提升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571416" y="4648200"/>
              <a:ext cx="102241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2250" dirty="0">
                  <a:solidFill>
                    <a:srgbClr val="2E7D32"/>
                  </a:solidFill>
                  <a:latin typeface="Consolas"/>
                  <a:ea typeface="Consolas"/>
                  <a:cs typeface="Consolas"/>
                </a:rPr>
                <a:t>+0.035</a:t>
              </a:r>
            </a:p>
          </p:txBody>
        </p:sp>
        <p:sp>
          <p:nvSpPr>
            <p:cNvPr id="43" name="Line 43"/>
            <p:cNvSpPr/>
            <p:nvPr/>
          </p:nvSpPr>
          <p:spPr>
            <a:xfrm>
              <a:off x="609600" y="50863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grpSp>
        <p:nvGrpSpPr>
          <p:cNvPr id="54" name="item-corpus"/>
          <p:cNvGrpSpPr/>
          <p:nvPr/>
        </p:nvGrpSpPr>
        <p:grpSpPr>
          <a:xfrm>
            <a:off x="609600" y="5251450"/>
            <a:ext cx="10984230" cy="701675"/>
            <a:chOff x="609600" y="5251450"/>
            <a:chExt cx="10984230" cy="701675"/>
          </a:xfrm>
        </p:grpSpPr>
        <p:grpSp>
          <p:nvGrpSpPr>
            <p:cNvPr id="48" name="Group 48"/>
            <p:cNvGrpSpPr/>
            <p:nvPr/>
          </p:nvGrpSpPr>
          <p:grpSpPr>
            <a:xfrm>
              <a:off x="666750" y="5262562"/>
              <a:ext cx="228600" cy="257176"/>
              <a:chOff x="666750" y="5262562"/>
              <a:chExt cx="228600" cy="257176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666750" y="5262562"/>
                <a:ext cx="2286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85725">
                    <a:moveTo>
                      <a:pt x="0" y="42862"/>
                    </a:moveTo>
                    <a:cubicBezTo>
                      <a:pt x="0" y="66535"/>
                      <a:pt x="51174" y="85725"/>
                      <a:pt x="114300" y="85725"/>
                    </a:cubicBezTo>
                    <a:cubicBezTo>
                      <a:pt x="177426" y="85725"/>
                      <a:pt x="228600" y="66535"/>
                      <a:pt x="228600" y="42862"/>
                    </a:cubicBezTo>
                    <a:cubicBezTo>
                      <a:pt x="228600" y="19190"/>
                      <a:pt x="177426" y="0"/>
                      <a:pt x="114300" y="0"/>
                    </a:cubicBezTo>
                    <a:cubicBezTo>
                      <a:pt x="51174" y="0"/>
                      <a:pt x="0" y="19190"/>
                      <a:pt x="0" y="42862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666750" y="5305425"/>
                <a:ext cx="228600" cy="128588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28588">
                    <a:moveTo>
                      <a:pt x="0" y="0"/>
                    </a:moveTo>
                    <a:lnTo>
                      <a:pt x="0" y="85725"/>
                    </a:lnTo>
                    <a:cubicBezTo>
                      <a:pt x="0" y="109397"/>
                      <a:pt x="51174" y="128588"/>
                      <a:pt x="114300" y="128588"/>
                    </a:cubicBezTo>
                    <a:cubicBezTo>
                      <a:pt x="177426" y="128588"/>
                      <a:pt x="228600" y="109397"/>
                      <a:pt x="228600" y="85725"/>
                    </a:cubicBezTo>
                    <a:lnTo>
                      <a:pt x="228600" y="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666750" y="5391150"/>
                <a:ext cx="228600" cy="128588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28588">
                    <a:moveTo>
                      <a:pt x="0" y="0"/>
                    </a:moveTo>
                    <a:lnTo>
                      <a:pt x="0" y="85725"/>
                    </a:lnTo>
                    <a:cubicBezTo>
                      <a:pt x="0" y="109397"/>
                      <a:pt x="51174" y="128588"/>
                      <a:pt x="114300" y="128588"/>
                    </a:cubicBezTo>
                    <a:cubicBezTo>
                      <a:pt x="177426" y="128588"/>
                      <a:pt x="228600" y="109397"/>
                      <a:pt x="228600" y="85725"/>
                    </a:cubicBezTo>
                    <a:lnTo>
                      <a:pt x="228600" y="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95756" y="5251450"/>
              <a:ext cx="19568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语料扩充与多格式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98042" y="5607050"/>
              <a:ext cx="47669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新增 DOC/DOCX/XLS/XLSX/WPS；解析缓存加速增量构建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0848594" y="52641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语料文档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071640" y="5505450"/>
              <a:ext cx="152219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225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47 → 1164</a:t>
              </a:r>
            </a:p>
          </p:txBody>
        </p:sp>
        <p:sp>
          <p:nvSpPr>
            <p:cNvPr id="53" name="Line 53"/>
            <p:cNvSpPr/>
            <p:nvPr/>
          </p:nvSpPr>
          <p:spPr>
            <a:xfrm>
              <a:off x="609600" y="59436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</p:grpSp>
      <p:grpSp>
        <p:nvGrpSpPr>
          <p:cNvPr id="57" name="footer"/>
          <p:cNvGrpSpPr/>
          <p:nvPr/>
        </p:nvGrpSpPr>
        <p:grpSpPr>
          <a:xfrm>
            <a:off x="603504" y="6438900"/>
            <a:ext cx="10984992" cy="234696"/>
            <a:chOff x="603504" y="6438900"/>
            <a:chExt cx="10984992" cy="234696"/>
          </a:xfrm>
        </p:grpSpPr>
        <p:sp>
          <p:nvSpPr>
            <p:cNvPr id="55" name="TextBox 55"/>
            <p:cNvSpPr txBox="1"/>
            <p:nvPr/>
          </p:nvSpPr>
          <p:spPr>
            <a:xfrm>
              <a:off x="603504" y="6438900"/>
              <a:ext cx="527852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数据来源：项目内部修复记录与评测日志（2026-09-21 至 2026-10-10）</a:t>
              </a:r>
            </a:p>
          </p:txBody>
        </p:sp>
        <p:sp>
          <p:nvSpPr>
            <p:cNvPr id="56" name="TextBox 56"/>
            <p:cNvSpPr/>
            <p:nvPr/>
          </p:nvSpPr>
          <p:spPr>
            <a:xfrm>
              <a:off x="11035094" y="6438900"/>
              <a:ext cx="5534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r"/>
              <a:r>
                <a:rPr lang="en-US" sz="1200" dirty="0">
                  <a:solidFill>
                    <a:srgbClr val="5A6472"/>
                  </a:solidFill>
                  <a:latin typeface="Arial"/>
                  <a:ea typeface="Arial"/>
                  <a:cs typeface="Arial"/>
                </a:rPr>
                <a:t>02 / 04</a:t>
              </a:r>
            </a:p>
          </p:txBody>
        </p:sp>
      </p:grpSp>
    </p:spTree>
  </p:cSld>
  <p:clrMapOvr>
    <a:masterClrMapping/>
  </p:clrMapOvr>
  <p:transition p14:dur="400">
    <p:fade/>
  </p:transition>
</p:sld>
</file>

<file path=ppt/slides/slide3.xml><?xml version="1.0" encoding="utf-8"?>
<p:sld xmlns:a="http://schemas.openxmlformats.org/drawingml/2006/main" xmlns:p="http://schemas.openxmlformats.org/presentationml/2006/main" xmlns:p14="http://schemas.microsoft.com/office/powerpoint/2010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09600" y="635000"/>
            <a:ext cx="8561070" cy="922655"/>
            <a:chOff x="609600" y="635000"/>
            <a:chExt cx="8561070" cy="922655"/>
          </a:xfrm>
        </p:grpSpPr>
        <p:sp>
          <p:nvSpPr>
            <p:cNvPr id="2" name="Rectangle 2"/>
            <p:cNvSpPr/>
            <p:nvPr/>
          </p:nvSpPr>
          <p:spPr>
            <a:xfrm>
              <a:off x="609600" y="723900"/>
              <a:ext cx="38100" cy="60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22960" y="635000"/>
              <a:ext cx="344424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当前状况与下一步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826770" y="1117600"/>
              <a:ext cx="834390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索引、模型栈、质量指标现状，以及已知短板与下一步投入</a:t>
              </a:r>
            </a:p>
          </p:txBody>
        </p:sp>
      </p:grpSp>
      <p:grpSp>
        <p:nvGrpSpPr>
          <p:cNvPr id="13" name="status-index"/>
          <p:cNvGrpSpPr/>
          <p:nvPr/>
        </p:nvGrpSpPr>
        <p:grpSpPr>
          <a:xfrm>
            <a:off x="609600" y="1676400"/>
            <a:ext cx="3429000" cy="1905000"/>
            <a:chOff x="609600" y="1676400"/>
            <a:chExt cx="3429000" cy="1905000"/>
          </a:xfrm>
        </p:grpSpPr>
        <p:sp>
          <p:nvSpPr>
            <p:cNvPr id="6" name="Rectangle 6"/>
            <p:cNvSpPr/>
            <p:nvPr/>
          </p:nvSpPr>
          <p:spPr>
            <a:xfrm>
              <a:off x="609600" y="1676400"/>
              <a:ext cx="3429000" cy="1905000"/>
            </a:xfrm>
            <a:prstGeom prst="roundRect">
              <a:avLst>
                <a:gd name="adj" fmla="val 2000"/>
              </a:avLst>
            </a:prstGeom>
            <a:solidFill>
              <a:schemeClr val="lt2"/>
            </a:solidFill>
            <a:ln>
              <a:noFill/>
            </a:ln>
          </p:spPr>
        </p:sp>
        <p:grpSp>
          <p:nvGrpSpPr>
            <p:cNvPr id="10" name="Group 10"/>
            <p:cNvGrpSpPr/>
            <p:nvPr/>
          </p:nvGrpSpPr>
          <p:grpSpPr>
            <a:xfrm>
              <a:off x="876300" y="1857375"/>
              <a:ext cx="152400" cy="171450"/>
              <a:chOff x="876300" y="1857375"/>
              <a:chExt cx="152400" cy="17145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876300" y="1857375"/>
                <a:ext cx="15240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57150">
                    <a:moveTo>
                      <a:pt x="0" y="28575"/>
                    </a:moveTo>
                    <a:cubicBezTo>
                      <a:pt x="0" y="44357"/>
                      <a:pt x="34116" y="57150"/>
                      <a:pt x="76200" y="57150"/>
                    </a:cubicBezTo>
                    <a:cubicBezTo>
                      <a:pt x="118284" y="57150"/>
                      <a:pt x="152400" y="44357"/>
                      <a:pt x="152400" y="28575"/>
                    </a:cubicBezTo>
                    <a:cubicBezTo>
                      <a:pt x="152400" y="12793"/>
                      <a:pt x="118284" y="0"/>
                      <a:pt x="76200" y="0"/>
                    </a:cubicBezTo>
                    <a:cubicBezTo>
                      <a:pt x="34116" y="0"/>
                      <a:pt x="0" y="12793"/>
                      <a:pt x="0" y="28575"/>
                    </a:cubicBez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876300" y="1885950"/>
                <a:ext cx="1524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85725">
                    <a:moveTo>
                      <a:pt x="0" y="0"/>
                    </a:moveTo>
                    <a:lnTo>
                      <a:pt x="0" y="57150"/>
                    </a:lnTo>
                    <a:cubicBezTo>
                      <a:pt x="0" y="72932"/>
                      <a:pt x="34116" y="85725"/>
                      <a:pt x="76200" y="85725"/>
                    </a:cubicBezTo>
                    <a:cubicBezTo>
                      <a:pt x="118284" y="85725"/>
                      <a:pt x="152400" y="72932"/>
                      <a:pt x="152400" y="57150"/>
                    </a:cubicBezTo>
                    <a:lnTo>
                      <a:pt x="152400" y="0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876300" y="1943100"/>
                <a:ext cx="1524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85725">
                    <a:moveTo>
                      <a:pt x="0" y="0"/>
                    </a:moveTo>
                    <a:lnTo>
                      <a:pt x="0" y="57150"/>
                    </a:lnTo>
                    <a:cubicBezTo>
                      <a:pt x="0" y="72932"/>
                      <a:pt x="34116" y="85725"/>
                      <a:pt x="76200" y="85725"/>
                    </a:cubicBezTo>
                    <a:cubicBezTo>
                      <a:pt x="118284" y="85725"/>
                      <a:pt x="152400" y="72932"/>
                      <a:pt x="152400" y="57150"/>
                    </a:cubicBezTo>
                    <a:lnTo>
                      <a:pt x="152400" y="0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1136142" y="182562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索引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29818" y="2133600"/>
              <a:ext cx="2426589" cy="9323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1164 份文档全量重建成功</a:t>
              </a:r>
              <a:b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（0 失败），片段缓存与</a:t>
              </a:r>
              <a:b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构建清单一致</a:t>
              </a:r>
            </a:p>
          </p:txBody>
        </p:sp>
      </p:grpSp>
      <p:grpSp>
        <p:nvGrpSpPr>
          <p:cNvPr id="28" name="status-stack"/>
          <p:cNvGrpSpPr/>
          <p:nvPr/>
        </p:nvGrpSpPr>
        <p:grpSpPr>
          <a:xfrm>
            <a:off x="4343400" y="1676400"/>
            <a:ext cx="3429000" cy="1905000"/>
            <a:chOff x="4343400" y="1676400"/>
            <a:chExt cx="3429000" cy="1905000"/>
          </a:xfrm>
        </p:grpSpPr>
        <p:sp>
          <p:nvSpPr>
            <p:cNvPr id="14" name="Rectangle 14"/>
            <p:cNvSpPr/>
            <p:nvPr/>
          </p:nvSpPr>
          <p:spPr>
            <a:xfrm>
              <a:off x="4343400" y="1676400"/>
              <a:ext cx="3429000" cy="1905000"/>
            </a:xfrm>
            <a:prstGeom prst="roundRect">
              <a:avLst>
                <a:gd name="adj" fmla="val 2000"/>
              </a:avLst>
            </a:prstGeom>
            <a:solidFill>
              <a:schemeClr val="lt2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4600575" y="1857375"/>
              <a:ext cx="171450" cy="171450"/>
              <a:chOff x="4600575" y="1857375"/>
              <a:chExt cx="171450" cy="17145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4619625" y="187642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0" y="9525"/>
                    </a:moveTo>
                    <a:cubicBezTo>
                      <a:pt x="0" y="4264"/>
                      <a:pt x="4264" y="0"/>
                      <a:pt x="9525" y="0"/>
                    </a:cubicBezTo>
                    <a:lnTo>
                      <a:pt x="123825" y="0"/>
                    </a:lnTo>
                    <a:cubicBezTo>
                      <a:pt x="129086" y="0"/>
                      <a:pt x="133350" y="4264"/>
                      <a:pt x="133350" y="9525"/>
                    </a:cubicBezTo>
                    <a:lnTo>
                      <a:pt x="133350" y="123825"/>
                    </a:lnTo>
                    <a:cubicBezTo>
                      <a:pt x="133350" y="129086"/>
                      <a:pt x="129086" y="133350"/>
                      <a:pt x="123825" y="133350"/>
                    </a:cubicBezTo>
                    <a:lnTo>
                      <a:pt x="9525" y="133350"/>
                    </a:lnTo>
                    <a:cubicBezTo>
                      <a:pt x="4264" y="133350"/>
                      <a:pt x="0" y="129086"/>
                      <a:pt x="0" y="123825"/>
                    </a:cubicBezTo>
                    <a:lnTo>
                      <a:pt x="0" y="9525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4657725" y="1914525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0"/>
                    </a:moveTo>
                    <a:lnTo>
                      <a:pt x="57150" y="0"/>
                    </a:lnTo>
                    <a:lnTo>
                      <a:pt x="57150" y="57150"/>
                    </a:lnTo>
                    <a:lnTo>
                      <a:pt x="0" y="57150"/>
                    </a:ln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4600575" y="1924050"/>
                <a:ext cx="190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" h="9525">
                    <a:moveTo>
                      <a:pt x="0" y="0"/>
                    </a:moveTo>
                    <a:lnTo>
                      <a:pt x="19050" y="0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4600575" y="1962150"/>
                <a:ext cx="190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" h="9525">
                    <a:moveTo>
                      <a:pt x="0" y="0"/>
                    </a:moveTo>
                    <a:lnTo>
                      <a:pt x="19050" y="0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4667250" y="1857375"/>
                <a:ext cx="952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9050">
                    <a:moveTo>
                      <a:pt x="0" y="0"/>
                    </a:move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4705350" y="1857375"/>
                <a:ext cx="952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9050">
                    <a:moveTo>
                      <a:pt x="0" y="0"/>
                    </a:move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4752975" y="1924050"/>
                <a:ext cx="190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" h="9525">
                    <a:moveTo>
                      <a:pt x="19050" y="0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4752975" y="1962150"/>
                <a:ext cx="190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" h="9525">
                    <a:moveTo>
                      <a:pt x="19050" y="0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4705350" y="2009775"/>
                <a:ext cx="952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9050">
                    <a:moveTo>
                      <a:pt x="0" y="19050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4667250" y="2009775"/>
                <a:ext cx="952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9050">
                    <a:moveTo>
                      <a:pt x="0" y="19050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4869942" y="182562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模型栈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565142" y="2146300"/>
              <a:ext cx="2662618" cy="8355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Qwen3-14B-4bit · Qwen3-VL-8B</a:t>
              </a:r>
              <a:b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bge-m3 · bge-reranker-v2-m3</a:t>
              </a:r>
              <a:b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单卡 RTX 4090 24G</a:t>
              </a:r>
            </a:p>
          </p:txBody>
        </p:sp>
      </p:grpSp>
      <p:grpSp>
        <p:nvGrpSpPr>
          <p:cNvPr id="38" name="status-metrics"/>
          <p:cNvGrpSpPr/>
          <p:nvPr/>
        </p:nvGrpSpPr>
        <p:grpSpPr>
          <a:xfrm>
            <a:off x="8077200" y="1676400"/>
            <a:ext cx="3429000" cy="1925955"/>
            <a:chOff x="8077200" y="1676400"/>
            <a:chExt cx="3429000" cy="1925955"/>
          </a:xfrm>
        </p:grpSpPr>
        <p:sp>
          <p:nvSpPr>
            <p:cNvPr id="29" name="Rectangle 29"/>
            <p:cNvSpPr/>
            <p:nvPr/>
          </p:nvSpPr>
          <p:spPr>
            <a:xfrm>
              <a:off x="8077200" y="1676400"/>
              <a:ext cx="3429000" cy="1905000"/>
            </a:xfrm>
            <a:prstGeom prst="roundRect">
              <a:avLst>
                <a:gd name="adj" fmla="val 2000"/>
              </a:avLst>
            </a:prstGeom>
            <a:solidFill>
              <a:schemeClr val="lt2"/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8334375" y="1866900"/>
              <a:ext cx="171450" cy="161925"/>
              <a:chOff x="8334375" y="1866900"/>
              <a:chExt cx="171450" cy="161925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8334375" y="1943100"/>
                <a:ext cx="5715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76200">
                    <a:moveTo>
                      <a:pt x="0" y="9525"/>
                    </a:moveTo>
                    <a:cubicBezTo>
                      <a:pt x="0" y="4264"/>
                      <a:pt x="4264" y="0"/>
                      <a:pt x="9525" y="0"/>
                    </a:cubicBezTo>
                    <a:lnTo>
                      <a:pt x="47625" y="0"/>
                    </a:lnTo>
                    <a:cubicBezTo>
                      <a:pt x="52886" y="0"/>
                      <a:pt x="57150" y="4264"/>
                      <a:pt x="57150" y="9525"/>
                    </a:cubicBezTo>
                    <a:lnTo>
                      <a:pt x="57150" y="66675"/>
                    </a:lnTo>
                    <a:cubicBezTo>
                      <a:pt x="57150" y="71936"/>
                      <a:pt x="52886" y="76200"/>
                      <a:pt x="47625" y="76200"/>
                    </a:cubicBezTo>
                    <a:lnTo>
                      <a:pt x="9525" y="76200"/>
                    </a:lnTo>
                    <a:cubicBezTo>
                      <a:pt x="4264" y="76200"/>
                      <a:pt x="0" y="71936"/>
                      <a:pt x="0" y="66675"/>
                    </a:cubicBezTo>
                    <a:lnTo>
                      <a:pt x="0" y="9525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448675" y="1905000"/>
                <a:ext cx="5715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114300">
                    <a:moveTo>
                      <a:pt x="0" y="9525"/>
                    </a:moveTo>
                    <a:cubicBezTo>
                      <a:pt x="0" y="4264"/>
                      <a:pt x="4264" y="0"/>
                      <a:pt x="9525" y="0"/>
                    </a:cubicBezTo>
                    <a:lnTo>
                      <a:pt x="47625" y="0"/>
                    </a:lnTo>
                    <a:cubicBezTo>
                      <a:pt x="52886" y="0"/>
                      <a:pt x="57150" y="4264"/>
                      <a:pt x="57150" y="9525"/>
                    </a:cubicBezTo>
                    <a:lnTo>
                      <a:pt x="57150" y="104775"/>
                    </a:lnTo>
                    <a:cubicBezTo>
                      <a:pt x="57150" y="110036"/>
                      <a:pt x="52886" y="114300"/>
                      <a:pt x="47625" y="114300"/>
                    </a:cubicBezTo>
                    <a:lnTo>
                      <a:pt x="9525" y="114300"/>
                    </a:lnTo>
                    <a:cubicBezTo>
                      <a:pt x="4264" y="114300"/>
                      <a:pt x="0" y="110036"/>
                      <a:pt x="0" y="104775"/>
                    </a:cubicBezTo>
                    <a:lnTo>
                      <a:pt x="0" y="9525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8391525" y="1866900"/>
                <a:ext cx="5715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152400">
                    <a:moveTo>
                      <a:pt x="0" y="9525"/>
                    </a:moveTo>
                    <a:cubicBezTo>
                      <a:pt x="0" y="4264"/>
                      <a:pt x="4264" y="0"/>
                      <a:pt x="9525" y="0"/>
                    </a:cubicBezTo>
                    <a:lnTo>
                      <a:pt x="47625" y="0"/>
                    </a:lnTo>
                    <a:cubicBezTo>
                      <a:pt x="52886" y="0"/>
                      <a:pt x="57150" y="4264"/>
                      <a:pt x="57150" y="9525"/>
                    </a:cubicBezTo>
                    <a:lnTo>
                      <a:pt x="57150" y="142875"/>
                    </a:lnTo>
                    <a:cubicBezTo>
                      <a:pt x="57150" y="148136"/>
                      <a:pt x="52886" y="152400"/>
                      <a:pt x="47625" y="152400"/>
                    </a:cubicBezTo>
                    <a:lnTo>
                      <a:pt x="9525" y="152400"/>
                    </a:lnTo>
                    <a:cubicBezTo>
                      <a:pt x="4264" y="152400"/>
                      <a:pt x="0" y="148136"/>
                      <a:pt x="0" y="142875"/>
                    </a:cubicBezTo>
                    <a:lnTo>
                      <a:pt x="0" y="9525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8343900" y="2019300"/>
                <a:ext cx="1333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9525">
                    <a:moveTo>
                      <a:pt x="0" y="0"/>
                    </a:moveTo>
                    <a:lnTo>
                      <a:pt x="133350" y="0"/>
                    </a:lnTo>
                  </a:path>
                </a:pathLst>
              </a:custGeom>
              <a:noFill/>
              <a:ln w="19050">
                <a:solidFill>
                  <a:schemeClr val="accent1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8603742" y="18256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质量指标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98942" y="2146300"/>
              <a:ext cx="870966" cy="1292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MRR</a:t>
              </a:r>
              <a:b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Recall@5</a:t>
              </a:r>
              <a:b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真实幻觉率</a:t>
              </a:r>
              <a:b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拒答率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323195" y="2133600"/>
              <a:ext cx="965835" cy="14687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>
                <a:lnSpc>
                  <a:spcPts val="2700"/>
                </a:lnSpc>
              </a:pPr>
              <a:r>
                <a:rPr lang="zh-CN" sz="225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0.8193</a:t>
              </a:r>
              <a:br>
                <a:rPr lang="zh-CN" sz="225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</a:br>
              <a:r>
                <a:rPr lang="zh-CN" sz="225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0.9145</a:t>
              </a:r>
              <a:br>
                <a:rPr lang="zh-CN" sz="225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</a:br>
              <a:r>
                <a:rPr lang="zh-CN" sz="2250" dirty="0">
                  <a:solidFill>
                    <a:srgbClr val="2E7D32"/>
                  </a:solidFill>
                  <a:latin typeface="Consolas"/>
                  <a:ea typeface="Consolas"/>
                  <a:cs typeface="Consolas"/>
                </a:rPr>
                <a:t>3%</a:t>
              </a:r>
              <a:br>
                <a:rPr lang="zh-CN" sz="2250" dirty="0">
                  <a:solidFill>
                    <a:srgbClr val="2E7D32"/>
                  </a:solidFill>
                  <a:latin typeface="Consolas"/>
                  <a:ea typeface="Consolas"/>
                  <a:cs typeface="Consolas"/>
                </a:rPr>
              </a:br>
              <a:r>
                <a:rPr lang="zh-CN" sz="2250" dirty="0">
                  <a:solidFill>
                    <a:srgbClr val="2E7D32"/>
                  </a:solidFill>
                  <a:latin typeface="Consolas"/>
                  <a:ea typeface="Consolas"/>
                  <a:cs typeface="Consolas"/>
                </a:rPr>
                <a:t>100%</a:t>
              </a:r>
            </a:p>
          </p:txBody>
        </p:sp>
      </p:grpSp>
      <p:grpSp>
        <p:nvGrpSpPr>
          <p:cNvPr id="54" name="gaps"/>
          <p:cNvGrpSpPr/>
          <p:nvPr/>
        </p:nvGrpSpPr>
        <p:grpSpPr>
          <a:xfrm>
            <a:off x="609600" y="3810000"/>
            <a:ext cx="5334000" cy="2247900"/>
            <a:chOff x="609600" y="3810000"/>
            <a:chExt cx="5334000" cy="2247900"/>
          </a:xfrm>
        </p:grpSpPr>
        <p:sp>
          <p:nvSpPr>
            <p:cNvPr id="39" name="Rectangle 39"/>
            <p:cNvSpPr/>
            <p:nvPr/>
          </p:nvSpPr>
          <p:spPr>
            <a:xfrm>
              <a:off x="609600" y="3810000"/>
              <a:ext cx="5334000" cy="2247900"/>
            </a:xfrm>
            <a:prstGeom prst="roundRect">
              <a:avLst>
                <a:gd name="adj" fmla="val 1695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09600" y="3810000"/>
              <a:ext cx="38100" cy="2247900"/>
            </a:xfrm>
            <a:prstGeom prst="rect">
              <a:avLst/>
            </a:prstGeom>
            <a:solidFill>
              <a:srgbClr val="C62828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856439" y="3987811"/>
              <a:ext cx="192114" cy="165051"/>
              <a:chOff x="856439" y="3987811"/>
              <a:chExt cx="192114" cy="165051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952500" y="4048125"/>
                <a:ext cx="9525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8100">
                    <a:moveTo>
                      <a:pt x="0" y="0"/>
                    </a:moveTo>
                    <a:lnTo>
                      <a:pt x="0" y="38100"/>
                    </a:lnTo>
                  </a:path>
                </a:pathLst>
              </a:custGeom>
              <a:noFill/>
              <a:ln w="19050">
                <a:solidFill>
                  <a:srgbClr val="C62828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56439" y="3987811"/>
                <a:ext cx="192114" cy="165051"/>
              </a:xfrm>
              <a:custGeom>
                <a:avLst/>
                <a:gdLst/>
                <a:ahLst/>
                <a:cxnLst/>
                <a:rect l="l" t="t" r="r" b="b"/>
                <a:pathLst>
                  <a:path w="192114" h="165051">
                    <a:moveTo>
                      <a:pt x="80468" y="8794"/>
                    </a:moveTo>
                    <a:lnTo>
                      <a:pt x="3259" y="137705"/>
                    </a:lnTo>
                    <a:cubicBezTo>
                      <a:pt x="20" y="143314"/>
                      <a:pt x="0" y="150220"/>
                      <a:pt x="3207" y="155848"/>
                    </a:cubicBezTo>
                    <a:cubicBezTo>
                      <a:pt x="6413" y="161475"/>
                      <a:pt x="12365" y="164979"/>
                      <a:pt x="18842" y="165051"/>
                    </a:cubicBezTo>
                    <a:lnTo>
                      <a:pt x="173280" y="165051"/>
                    </a:lnTo>
                    <a:cubicBezTo>
                      <a:pt x="179753" y="164977"/>
                      <a:pt x="185702" y="161474"/>
                      <a:pt x="188908" y="155850"/>
                    </a:cubicBezTo>
                    <a:cubicBezTo>
                      <a:pt x="192114" y="150226"/>
                      <a:pt x="192097" y="143323"/>
                      <a:pt x="188863" y="137715"/>
                    </a:cubicBezTo>
                    <a:lnTo>
                      <a:pt x="111653" y="8784"/>
                    </a:lnTo>
                    <a:cubicBezTo>
                      <a:pt x="108349" y="3331"/>
                      <a:pt x="102437" y="0"/>
                      <a:pt x="96061" y="0"/>
                    </a:cubicBezTo>
                    <a:cubicBezTo>
                      <a:pt x="89685" y="0"/>
                      <a:pt x="83772" y="3331"/>
                      <a:pt x="80468" y="8784"/>
                    </a:cubicBezTo>
                  </a:path>
                </a:pathLst>
              </a:custGeom>
              <a:noFill/>
              <a:ln w="19050">
                <a:solidFill>
                  <a:srgbClr val="C62828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952500" y="41148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95" y="0"/>
                    </a:lnTo>
                  </a:path>
                </a:pathLst>
              </a:custGeom>
              <a:noFill/>
              <a:ln w="19050">
                <a:solidFill>
                  <a:srgbClr val="C62828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1136142" y="39592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62828"/>
                  </a:solidFill>
                  <a:latin typeface="+mn-lt"/>
                  <a:ea typeface="+mn-ea"/>
                  <a:cs typeface="+mn-cs"/>
                </a:rPr>
                <a:t>已知短板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847725" y="4410075"/>
              <a:ext cx="57150" cy="57150"/>
            </a:xfrm>
            <a:prstGeom prst="ellipse">
              <a:avLst/>
            </a:prstGeom>
            <a:solidFill>
              <a:srgbClr val="C62828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982218" y="4311650"/>
              <a:ext cx="26267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table / numeric 检索偏弱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847725" y="4772025"/>
              <a:ext cx="57150" cy="57150"/>
            </a:xfrm>
            <a:prstGeom prst="ellipse">
              <a:avLst/>
            </a:prstGeom>
            <a:solidFill>
              <a:srgbClr val="C62828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982218" y="4673600"/>
              <a:ext cx="16493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figure 忠实度低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847725" y="5133975"/>
              <a:ext cx="57150" cy="57150"/>
            </a:xfrm>
            <a:prstGeom prst="ellipse">
              <a:avLst/>
            </a:prstGeom>
            <a:solidFill>
              <a:srgbClr val="C62828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982218" y="5035550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上下文无词元预算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847725" y="5495925"/>
              <a:ext cx="57150" cy="57150"/>
            </a:xfrm>
            <a:prstGeom prst="ellipse">
              <a:avLst/>
            </a:prstGeom>
            <a:solidFill>
              <a:srgbClr val="C62828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982218" y="5397500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写接口无鉴权</a:t>
              </a:r>
            </a:p>
          </p:txBody>
        </p:sp>
      </p:grpSp>
      <p:grpSp>
        <p:nvGrpSpPr>
          <p:cNvPr id="67" name="next"/>
          <p:cNvGrpSpPr/>
          <p:nvPr/>
        </p:nvGrpSpPr>
        <p:grpSpPr>
          <a:xfrm>
            <a:off x="6248400" y="3810000"/>
            <a:ext cx="5334000" cy="2247900"/>
            <a:chOff x="6248400" y="3810000"/>
            <a:chExt cx="5334000" cy="2247900"/>
          </a:xfrm>
        </p:grpSpPr>
        <p:sp>
          <p:nvSpPr>
            <p:cNvPr id="55" name="Rectangle 55"/>
            <p:cNvSpPr/>
            <p:nvPr/>
          </p:nvSpPr>
          <p:spPr>
            <a:xfrm>
              <a:off x="6248400" y="3810000"/>
              <a:ext cx="5334000" cy="2247900"/>
            </a:xfrm>
            <a:prstGeom prst="roundRect">
              <a:avLst>
                <a:gd name="adj" fmla="val 1695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6248400" y="3810000"/>
              <a:ext cx="38100" cy="22479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470142" y="395922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下一步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6467475" y="4314825"/>
              <a:ext cx="247650" cy="2476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540779" y="434340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811518" y="4311650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表格结构化抽取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6467475" y="4676775"/>
              <a:ext cx="247650" cy="2476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540779" y="470535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811518" y="4673600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标注对齐后重评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6467475" y="5038725"/>
              <a:ext cx="247650" cy="2476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540779" y="506730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6811518" y="5035550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上下文预算与安全加固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603504" y="6438900"/>
            <a:ext cx="10984992" cy="234696"/>
            <a:chOff x="603504" y="6438900"/>
            <a:chExt cx="10984992" cy="234696"/>
          </a:xfrm>
        </p:grpSpPr>
        <p:sp>
          <p:nvSpPr>
            <p:cNvPr id="68" name="TextBox 68"/>
            <p:cNvSpPr txBox="1"/>
            <p:nvPr/>
          </p:nvSpPr>
          <p:spPr>
            <a:xfrm>
              <a:off x="603504" y="6438900"/>
              <a:ext cx="527852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数据来源：项目内部修复记录与评测日志（2026-09-21 至 2026-10-10）</a:t>
              </a:r>
            </a:p>
          </p:txBody>
        </p:sp>
        <p:sp>
          <p:nvSpPr>
            <p:cNvPr id="69" name="TextBox 69"/>
            <p:cNvSpPr/>
            <p:nvPr/>
          </p:nvSpPr>
          <p:spPr>
            <a:xfrm>
              <a:off x="11035094" y="6438900"/>
              <a:ext cx="5534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r"/>
              <a:r>
                <a:rPr lang="en-US" sz="1200" dirty="0">
                  <a:solidFill>
                    <a:srgbClr val="5A6472"/>
                  </a:solidFill>
                  <a:latin typeface="Arial"/>
                  <a:ea typeface="Arial"/>
                  <a:cs typeface="Arial"/>
                </a:rPr>
                <a:t>03 / 04</a:t>
              </a:r>
            </a:p>
          </p:txBody>
        </p:sp>
      </p:grpSp>
    </p:spTree>
  </p:cSld>
  <p:clrMapOvr>
    <a:masterClrMapping/>
  </p:clrMapOvr>
  <p:transition p14:dur="400">
    <p:fade/>
  </p:transition>
</p:sld>
</file>

<file path=ppt/slides/slide4.xml><?xml version="1.0" encoding="utf-8"?>
<p:sld xmlns:a="http://schemas.openxmlformats.org/drawingml/2006/main" xmlns:p="http://schemas.openxmlformats.org/presentationml/2006/main" xmlns:p14="http://schemas.microsoft.com/office/powerpoint/2010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09600" y="660400"/>
            <a:ext cx="8549640" cy="897255"/>
            <a:chOff x="609600" y="660400"/>
            <a:chExt cx="8549640" cy="897255"/>
          </a:xfrm>
        </p:grpSpPr>
        <p:sp>
          <p:nvSpPr>
            <p:cNvPr id="2" name="Freeform 2"/>
            <p:cNvSpPr/>
            <p:nvPr/>
          </p:nvSpPr>
          <p:spPr>
            <a:xfrm>
              <a:off x="609600" y="723900"/>
              <a:ext cx="38100" cy="609600"/>
            </a:xfrm>
            <a:custGeom>
              <a:avLst/>
              <a:gdLst/>
              <a:ahLst/>
              <a:cxnLst/>
              <a:rect l="l" t="t" r="r" b="b"/>
              <a:pathLst>
                <a:path w="38100" h="609600">
                  <a:moveTo>
                    <a:pt x="0" y="0"/>
                  </a:moveTo>
                  <a:lnTo>
                    <a:pt x="38100" y="0"/>
                  </a:lnTo>
                  <a:lnTo>
                    <a:pt x="38100" y="609600"/>
                  </a:lnTo>
                  <a:lnTo>
                    <a:pt x="0" y="609600"/>
                  </a:lnTo>
                  <a:close/>
                </a:path>
              </a:pathLst>
            </a:custGeom>
            <a:solidFill>
              <a:srgbClr val="0E7C66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07720" y="660400"/>
              <a:ext cx="3560288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dirty="0">
                  <a:solidFill>
                    <a:srgbClr val="0B3D66"/>
                  </a:solidFill>
                  <a:latin typeface="Times New Roman"/>
                  <a:ea typeface="SimSun"/>
                  <a:cs typeface="Times New Roman"/>
                </a:rPr>
                <a:t>Agentic RAG 简介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815340" y="1117600"/>
              <a:ext cx="834390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rgbClr val="1B1F24"/>
                  </a:solidFill>
                  <a:latin typeface="Times New Roman"/>
                  <a:ea typeface="SimSun"/>
                  <a:cs typeface="Times New Roman"/>
                </a:rPr>
                <a:t>在检索问答之上，加入智能体的规划、工具调用与反思闭环</a:t>
              </a:r>
            </a:p>
          </p:txBody>
        </p:sp>
      </p:grpSp>
      <p:grpSp>
        <p:nvGrpSpPr>
          <p:cNvPr id="43" name="agentic-loop"/>
          <p:cNvGrpSpPr/>
          <p:nvPr/>
        </p:nvGrpSpPr>
        <p:grpSpPr>
          <a:xfrm>
            <a:off x="609600" y="1714500"/>
            <a:ext cx="10972800" cy="1907159"/>
            <a:chOff x="609600" y="1714500"/>
            <a:chExt cx="10972800" cy="1907159"/>
          </a:xfrm>
        </p:grpSpPr>
        <p:grpSp>
          <p:nvGrpSpPr>
            <p:cNvPr id="12" name="loop-plan"/>
            <p:cNvGrpSpPr/>
            <p:nvPr/>
          </p:nvGrpSpPr>
          <p:grpSpPr>
            <a:xfrm>
              <a:off x="609600" y="1714500"/>
              <a:ext cx="2286000" cy="1333500"/>
              <a:chOff x="609600" y="1714500"/>
              <a:chExt cx="2286000" cy="1333500"/>
            </a:xfrm>
          </p:grpSpPr>
          <p:sp>
            <p:nvSpPr>
              <p:cNvPr id="6" name="Rectangle 6"/>
              <p:cNvSpPr/>
              <p:nvPr/>
            </p:nvSpPr>
            <p:spPr>
              <a:xfrm>
                <a:off x="609600" y="1714500"/>
                <a:ext cx="2286000" cy="1333500"/>
              </a:xfrm>
              <a:prstGeom prst="roundRect">
                <a:avLst>
                  <a:gd name="adj" fmla="val 2857"/>
                </a:avLst>
              </a:prstGeom>
              <a:solidFill>
                <a:srgbClr val="F4F6F8"/>
              </a:solidFill>
              <a:ln>
                <a:noFill/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609600" y="1714500"/>
                <a:ext cx="38100" cy="13335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333500">
                    <a:moveTo>
                      <a:pt x="0" y="0"/>
                    </a:moveTo>
                    <a:lnTo>
                      <a:pt x="38100" y="0"/>
                    </a:lnTo>
                    <a:lnTo>
                      <a:pt x="38100" y="1333500"/>
                    </a:lnTo>
                    <a:lnTo>
                      <a:pt x="0" y="1333500"/>
                    </a:lnTo>
                    <a:close/>
                  </a:path>
                </a:pathLst>
              </a:custGeom>
              <a:solidFill>
                <a:srgbClr val="0E7C66"/>
              </a:solidFill>
              <a:ln>
                <a:noFill/>
              </a:ln>
            </p:spPr>
          </p:sp>
          <p:sp>
            <p:nvSpPr>
              <p:cNvPr id="8" name="Ellipse 8"/>
              <p:cNvSpPr/>
              <p:nvPr/>
            </p:nvSpPr>
            <p:spPr>
              <a:xfrm>
                <a:off x="2562225" y="1838325"/>
                <a:ext cx="209550" cy="209550"/>
              </a:xfrm>
              <a:prstGeom prst="ellipse">
                <a:avLst/>
              </a:prstGeom>
              <a:solidFill>
                <a:srgbClr val="0E7C66"/>
              </a:solidFill>
              <a:ln>
                <a:noFill/>
              </a:ln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2619355" y="1851025"/>
                <a:ext cx="9529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rPr>
                  <a:t>1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830580" y="2032000"/>
                <a:ext cx="41910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0B3D66"/>
                    </a:solidFill>
                    <a:latin typeface="Arial"/>
                    <a:ea typeface="Microsoft YaHei"/>
                    <a:cs typeface="Arial"/>
                  </a:rPr>
                  <a:t>规划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832485" y="2470150"/>
                <a:ext cx="166994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5A6472"/>
                    </a:solidFill>
                    <a:latin typeface="Arial"/>
                    <a:ea typeface="Microsoft YaHei"/>
                    <a:cs typeface="Arial"/>
                  </a:rPr>
                  <a:t>拆解问题，制定检索策略</a:t>
                </a:r>
              </a:p>
            </p:txBody>
          </p:sp>
        </p:grpSp>
        <p:grpSp>
          <p:nvGrpSpPr>
            <p:cNvPr id="19" name="loop-retrieve"/>
            <p:cNvGrpSpPr/>
            <p:nvPr/>
          </p:nvGrpSpPr>
          <p:grpSpPr>
            <a:xfrm>
              <a:off x="3505200" y="1714500"/>
              <a:ext cx="2286000" cy="1333500"/>
              <a:chOff x="3505200" y="1714500"/>
              <a:chExt cx="2286000" cy="133350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3505200" y="1714500"/>
                <a:ext cx="2286000" cy="1333500"/>
              </a:xfrm>
              <a:prstGeom prst="roundRect">
                <a:avLst>
                  <a:gd name="adj" fmla="val 2857"/>
                </a:avLst>
              </a:prstGeom>
              <a:solidFill>
                <a:srgbClr val="F4F6F8"/>
              </a:solidFill>
              <a:ln>
                <a:noFill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3505200" y="1714500"/>
                <a:ext cx="38100" cy="13335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333500">
                    <a:moveTo>
                      <a:pt x="0" y="0"/>
                    </a:moveTo>
                    <a:lnTo>
                      <a:pt x="38100" y="0"/>
                    </a:lnTo>
                    <a:lnTo>
                      <a:pt x="38100" y="1333500"/>
                    </a:lnTo>
                    <a:lnTo>
                      <a:pt x="0" y="1333500"/>
                    </a:lnTo>
                    <a:close/>
                  </a:path>
                </a:pathLst>
              </a:custGeom>
              <a:solidFill>
                <a:srgbClr val="0E7C66"/>
              </a:solidFill>
              <a:ln>
                <a:noFill/>
              </a:ln>
            </p:spPr>
          </p:sp>
          <p:sp>
            <p:nvSpPr>
              <p:cNvPr id="15" name="Ellipse 15"/>
              <p:cNvSpPr/>
              <p:nvPr/>
            </p:nvSpPr>
            <p:spPr>
              <a:xfrm>
                <a:off x="5457825" y="1838325"/>
                <a:ext cx="209550" cy="209550"/>
              </a:xfrm>
              <a:prstGeom prst="ellipse">
                <a:avLst/>
              </a:prstGeom>
              <a:solidFill>
                <a:srgbClr val="0E7C66"/>
              </a:solidFill>
              <a:ln>
                <a:noFill/>
              </a:ln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5514955" y="1851025"/>
                <a:ext cx="9529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rPr>
                  <a:t>2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3726180" y="2032000"/>
                <a:ext cx="41910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0B3D66"/>
                    </a:solidFill>
                    <a:latin typeface="Arial"/>
                    <a:ea typeface="Microsoft YaHei"/>
                    <a:cs typeface="Arial"/>
                  </a:rPr>
                  <a:t>检索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3728085" y="2470150"/>
                <a:ext cx="106685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5A6472"/>
                    </a:solidFill>
                    <a:latin typeface="Arial"/>
                    <a:ea typeface="Microsoft YaHei"/>
                    <a:cs typeface="Arial"/>
                  </a:rPr>
                  <a:t>多轮检索知识库</a:t>
                </a:r>
              </a:p>
            </p:txBody>
          </p:sp>
        </p:grpSp>
        <p:grpSp>
          <p:nvGrpSpPr>
            <p:cNvPr id="26" name="loop-tools"/>
            <p:cNvGrpSpPr/>
            <p:nvPr/>
          </p:nvGrpSpPr>
          <p:grpSpPr>
            <a:xfrm>
              <a:off x="6400800" y="1714500"/>
              <a:ext cx="2286000" cy="1333500"/>
              <a:chOff x="6400800" y="1714500"/>
              <a:chExt cx="2286000" cy="13335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6400800" y="1714500"/>
                <a:ext cx="2286000" cy="1333500"/>
              </a:xfrm>
              <a:prstGeom prst="roundRect">
                <a:avLst>
                  <a:gd name="adj" fmla="val 2857"/>
                </a:avLst>
              </a:prstGeom>
              <a:solidFill>
                <a:srgbClr val="F4F6F8"/>
              </a:solidFill>
              <a:ln>
                <a:noFill/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6400800" y="1714500"/>
                <a:ext cx="38100" cy="13335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333500">
                    <a:moveTo>
                      <a:pt x="0" y="0"/>
                    </a:moveTo>
                    <a:lnTo>
                      <a:pt x="38100" y="0"/>
                    </a:lnTo>
                    <a:lnTo>
                      <a:pt x="38100" y="1333500"/>
                    </a:lnTo>
                    <a:lnTo>
                      <a:pt x="0" y="1333500"/>
                    </a:lnTo>
                    <a:close/>
                  </a:path>
                </a:pathLst>
              </a:custGeom>
              <a:solidFill>
                <a:srgbClr val="0E7C66"/>
              </a:solidFill>
              <a:ln>
                <a:noFill/>
              </a:ln>
            </p:spPr>
          </p:sp>
          <p:sp>
            <p:nvSpPr>
              <p:cNvPr id="22" name="Ellipse 22"/>
              <p:cNvSpPr/>
              <p:nvPr/>
            </p:nvSpPr>
            <p:spPr>
              <a:xfrm>
                <a:off x="8353425" y="1838325"/>
                <a:ext cx="209550" cy="209550"/>
              </a:xfrm>
              <a:prstGeom prst="ellipse">
                <a:avLst/>
              </a:prstGeom>
              <a:solidFill>
                <a:srgbClr val="0E7C66"/>
              </a:solidFill>
              <a:ln>
                <a:noFill/>
              </a:ln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8410555" y="1851025"/>
                <a:ext cx="9529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rPr>
                  <a:t>3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6621780" y="2032000"/>
                <a:ext cx="82296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0B3D66"/>
                    </a:solidFill>
                    <a:latin typeface="Arial"/>
                    <a:ea typeface="Microsoft YaHei"/>
                    <a:cs typeface="Arial"/>
                  </a:rPr>
                  <a:t>工具调用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6623685" y="2470150"/>
                <a:ext cx="114684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5A6472"/>
                    </a:solidFill>
                    <a:latin typeface="Arial"/>
                    <a:ea typeface="Microsoft YaHei"/>
                    <a:cs typeface="Arial"/>
                  </a:rPr>
                  <a:t>计算 · 表格 · API</a:t>
                </a:r>
              </a:p>
            </p:txBody>
          </p:sp>
        </p:grpSp>
        <p:grpSp>
          <p:nvGrpSpPr>
            <p:cNvPr id="33" name="loop-reflect"/>
            <p:cNvGrpSpPr/>
            <p:nvPr/>
          </p:nvGrpSpPr>
          <p:grpSpPr>
            <a:xfrm>
              <a:off x="9296400" y="1714500"/>
              <a:ext cx="2286000" cy="1333500"/>
              <a:chOff x="9296400" y="1714500"/>
              <a:chExt cx="2286000" cy="133350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9296400" y="1714500"/>
                <a:ext cx="2286000" cy="1333500"/>
              </a:xfrm>
              <a:prstGeom prst="roundRect">
                <a:avLst>
                  <a:gd name="adj" fmla="val 2857"/>
                </a:avLst>
              </a:prstGeom>
              <a:solidFill>
                <a:srgbClr val="F4F6F8"/>
              </a:solidFill>
              <a:ln>
                <a:noFill/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9296400" y="1714500"/>
                <a:ext cx="38100" cy="13335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333500">
                    <a:moveTo>
                      <a:pt x="0" y="0"/>
                    </a:moveTo>
                    <a:lnTo>
                      <a:pt x="38100" y="0"/>
                    </a:lnTo>
                    <a:lnTo>
                      <a:pt x="38100" y="1333500"/>
                    </a:lnTo>
                    <a:lnTo>
                      <a:pt x="0" y="1333500"/>
                    </a:lnTo>
                    <a:close/>
                  </a:path>
                </a:pathLst>
              </a:custGeom>
              <a:solidFill>
                <a:srgbClr val="0E7C66"/>
              </a:solidFill>
              <a:ln>
                <a:noFill/>
              </a:ln>
            </p:spPr>
          </p:sp>
          <p:sp>
            <p:nvSpPr>
              <p:cNvPr id="29" name="Ellipse 29"/>
              <p:cNvSpPr/>
              <p:nvPr/>
            </p:nvSpPr>
            <p:spPr>
              <a:xfrm>
                <a:off x="11249025" y="1838325"/>
                <a:ext cx="209550" cy="209550"/>
              </a:xfrm>
              <a:prstGeom prst="ellipse">
                <a:avLst/>
              </a:prstGeom>
              <a:solidFill>
                <a:srgbClr val="0E7C66"/>
              </a:solidFill>
              <a:ln>
                <a:noFill/>
              </a:ln>
            </p:spPr>
          </p:sp>
          <p:sp>
            <p:nvSpPr>
              <p:cNvPr id="30" name="TextBox 30"/>
              <p:cNvSpPr txBox="1"/>
              <p:nvPr/>
            </p:nvSpPr>
            <p:spPr>
              <a:xfrm>
                <a:off x="11306155" y="1851025"/>
                <a:ext cx="9529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120" dirty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rPr>
                  <a:t>4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9517380" y="2032000"/>
                <a:ext cx="41910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0B3D66"/>
                    </a:solidFill>
                    <a:latin typeface="Arial"/>
                    <a:ea typeface="Microsoft YaHei"/>
                    <a:cs typeface="Arial"/>
                  </a:rPr>
                  <a:t>反思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9519285" y="2470150"/>
                <a:ext cx="1368400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5A6472"/>
                    </a:solidFill>
                    <a:latin typeface="Arial"/>
                    <a:ea typeface="Microsoft YaHei"/>
                    <a:cs typeface="Arial"/>
                  </a:rPr>
                  <a:t>校验答案，按需修正</a:t>
                </a:r>
              </a:p>
            </p:txBody>
          </p:sp>
        </p:grpSp>
        <p:sp>
          <p:nvSpPr>
            <p:cNvPr id="34" name="Line 34"/>
            <p:cNvSpPr/>
            <p:nvPr/>
          </p:nvSpPr>
          <p:spPr>
            <a:xfrm>
              <a:off x="2895600" y="2381250"/>
              <a:ext cx="552450" cy="9525"/>
            </a:xfrm>
            <a:custGeom>
              <a:avLst/>
              <a:gdLst/>
              <a:ahLst/>
              <a:cxnLst/>
              <a:rect l="l" t="t" r="r" b="b"/>
              <a:pathLst>
                <a:path w="552450" h="9525">
                  <a:moveTo>
                    <a:pt x="0" y="0"/>
                  </a:moveTo>
                  <a:lnTo>
                    <a:pt x="552450" y="0"/>
                  </a:lnTo>
                </a:path>
              </a:pathLst>
            </a:custGeom>
            <a:noFill/>
            <a:ln w="19050">
              <a:solidFill>
                <a:srgbClr val="0E7C66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3390900" y="2314575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0E7C66"/>
            </a:solidFill>
            <a:ln>
              <a:noFill/>
            </a:ln>
          </p:spPr>
        </p:sp>
        <p:sp>
          <p:nvSpPr>
            <p:cNvPr id="36" name="Line 36"/>
            <p:cNvSpPr/>
            <p:nvPr/>
          </p:nvSpPr>
          <p:spPr>
            <a:xfrm>
              <a:off x="5791200" y="2381250"/>
              <a:ext cx="552450" cy="9525"/>
            </a:xfrm>
            <a:custGeom>
              <a:avLst/>
              <a:gdLst/>
              <a:ahLst/>
              <a:cxnLst/>
              <a:rect l="l" t="t" r="r" b="b"/>
              <a:pathLst>
                <a:path w="552450" h="9525">
                  <a:moveTo>
                    <a:pt x="0" y="0"/>
                  </a:moveTo>
                  <a:lnTo>
                    <a:pt x="552450" y="0"/>
                  </a:lnTo>
                </a:path>
              </a:pathLst>
            </a:custGeom>
            <a:noFill/>
            <a:ln w="19050">
              <a:solidFill>
                <a:srgbClr val="0E7C66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6286500" y="2314575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0E7C66"/>
            </a:solidFill>
            <a:ln>
              <a:noFill/>
            </a:ln>
          </p:spPr>
        </p:sp>
        <p:sp>
          <p:nvSpPr>
            <p:cNvPr id="38" name="Line 38"/>
            <p:cNvSpPr/>
            <p:nvPr/>
          </p:nvSpPr>
          <p:spPr>
            <a:xfrm>
              <a:off x="8686800" y="2381250"/>
              <a:ext cx="552450" cy="9525"/>
            </a:xfrm>
            <a:custGeom>
              <a:avLst/>
              <a:gdLst/>
              <a:ahLst/>
              <a:cxnLst/>
              <a:rect l="l" t="t" r="r" b="b"/>
              <a:pathLst>
                <a:path w="552450" h="9525">
                  <a:moveTo>
                    <a:pt x="0" y="0"/>
                  </a:moveTo>
                  <a:lnTo>
                    <a:pt x="552450" y="0"/>
                  </a:lnTo>
                </a:path>
              </a:pathLst>
            </a:custGeom>
            <a:noFill/>
            <a:ln w="19050">
              <a:solidFill>
                <a:srgbClr val="0E7C66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9182100" y="2314575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11430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0E7C66"/>
            </a:solidFill>
            <a:ln>
              <a:noFill/>
            </a:ln>
          </p:spPr>
        </p:sp>
        <p:sp>
          <p:nvSpPr>
            <p:cNvPr id="40" name="Freeform 40"/>
            <p:cNvSpPr/>
            <p:nvPr/>
          </p:nvSpPr>
          <p:spPr>
            <a:xfrm>
              <a:off x="1752600" y="3048000"/>
              <a:ext cx="8686800" cy="285750"/>
            </a:xfrm>
            <a:custGeom>
              <a:avLst/>
              <a:gdLst/>
              <a:ahLst/>
              <a:cxnLst/>
              <a:rect l="l" t="t" r="r" b="b"/>
              <a:pathLst>
                <a:path w="8686800" h="285750">
                  <a:moveTo>
                    <a:pt x="8686800" y="0"/>
                  </a:moveTo>
                  <a:lnTo>
                    <a:pt x="8686800" y="285750"/>
                  </a:lnTo>
                  <a:lnTo>
                    <a:pt x="0" y="285750"/>
                  </a:lnTo>
                  <a:lnTo>
                    <a:pt x="0" y="57150"/>
                  </a:lnTo>
                </a:path>
              </a:pathLst>
            </a:custGeom>
            <a:noFill/>
            <a:ln w="19050">
              <a:solidFill>
                <a:srgbClr val="0E7C66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1685925" y="3009900"/>
              <a:ext cx="133350" cy="133350"/>
            </a:xfrm>
            <a:custGeom>
              <a:avLst/>
              <a:gdLst/>
              <a:ahLst/>
              <a:cxnLst/>
              <a:rect l="l" t="t" r="r" b="b"/>
              <a:pathLst>
                <a:path w="133350" h="133350">
                  <a:moveTo>
                    <a:pt x="66675" y="0"/>
                  </a:moveTo>
                  <a:lnTo>
                    <a:pt x="0" y="133350"/>
                  </a:lnTo>
                  <a:lnTo>
                    <a:pt x="133350" y="133350"/>
                  </a:lnTo>
                  <a:close/>
                </a:path>
              </a:pathLst>
            </a:custGeom>
            <a:solidFill>
              <a:srgbClr val="0E7C66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462460" y="3416300"/>
              <a:ext cx="12670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多轮迭代 · 形成闭环</a:t>
              </a:r>
            </a:p>
          </p:txBody>
        </p:sp>
      </p:grpSp>
      <p:grpSp>
        <p:nvGrpSpPr>
          <p:cNvPr id="51" name="card-vs"/>
          <p:cNvGrpSpPr/>
          <p:nvPr/>
        </p:nvGrpSpPr>
        <p:grpSpPr>
          <a:xfrm>
            <a:off x="609600" y="3810000"/>
            <a:ext cx="5334000" cy="2247900"/>
            <a:chOff x="609600" y="3810000"/>
            <a:chExt cx="5334000" cy="2247900"/>
          </a:xfrm>
        </p:grpSpPr>
        <p:sp>
          <p:nvSpPr>
            <p:cNvPr id="44" name="Rectangle 44"/>
            <p:cNvSpPr/>
            <p:nvPr/>
          </p:nvSpPr>
          <p:spPr>
            <a:xfrm>
              <a:off x="609600" y="3810000"/>
              <a:ext cx="5334000" cy="2247900"/>
            </a:xfrm>
            <a:prstGeom prst="roundRect">
              <a:avLst>
                <a:gd name="adj" fmla="val 1695"/>
              </a:avLst>
            </a:prstGeom>
            <a:solidFill>
              <a:srgbClr val="F4F6F8"/>
            </a:solidFill>
            <a:ln>
              <a:noFill/>
            </a:ln>
          </p:spPr>
        </p:sp>
        <p:sp>
          <p:nvSpPr>
            <p:cNvPr id="45" name="Freeform 45"/>
            <p:cNvSpPr/>
            <p:nvPr/>
          </p:nvSpPr>
          <p:spPr>
            <a:xfrm>
              <a:off x="609600" y="3810000"/>
              <a:ext cx="38100" cy="2247900"/>
            </a:xfrm>
            <a:custGeom>
              <a:avLst/>
              <a:gdLst/>
              <a:ahLst/>
              <a:cxnLst/>
              <a:rect l="l" t="t" r="r" b="b"/>
              <a:pathLst>
                <a:path w="38100" h="2247900">
                  <a:moveTo>
                    <a:pt x="0" y="0"/>
                  </a:moveTo>
                  <a:lnTo>
                    <a:pt x="38100" y="0"/>
                  </a:lnTo>
                  <a:lnTo>
                    <a:pt x="38100" y="2247900"/>
                  </a:lnTo>
                  <a:lnTo>
                    <a:pt x="0" y="2247900"/>
                  </a:lnTo>
                  <a:close/>
                </a:path>
              </a:pathLst>
            </a:custGeom>
            <a:solidFill>
              <a:srgbClr val="0B3D66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831342" y="3959225"/>
              <a:ext cx="163754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3D66"/>
                  </a:solidFill>
                  <a:latin typeface="Arial"/>
                  <a:ea typeface="Microsoft YaHei"/>
                  <a:cs typeface="Arial"/>
                </a:rPr>
                <a:t>与传统 RAG 的差别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847725" y="4410075"/>
              <a:ext cx="57150" cy="57150"/>
            </a:xfrm>
            <a:prstGeom prst="ellipse">
              <a:avLst/>
            </a:prstGeom>
            <a:solidFill>
              <a:srgbClr val="0B3D66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73455" y="4337050"/>
              <a:ext cx="41660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B1F24"/>
                  </a:solidFill>
                  <a:latin typeface="Arial"/>
                  <a:ea typeface="Microsoft YaHei"/>
                  <a:cs typeface="Arial"/>
                </a:rPr>
                <a:t>传统：单轮「检索 → 生成」，一次取回即作答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847725" y="4772025"/>
              <a:ext cx="57150" cy="57150"/>
            </a:xfrm>
            <a:prstGeom prst="ellipse">
              <a:avLst/>
            </a:prstGeom>
            <a:solidFill>
              <a:srgbClr val="0B3D66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973455" y="4699000"/>
              <a:ext cx="466556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B1F24"/>
                  </a:solidFill>
                  <a:latin typeface="Arial"/>
                  <a:ea typeface="Microsoft YaHei"/>
                  <a:cs typeface="Arial"/>
                </a:rPr>
                <a:t>Agentic：多轮「规划 → 检索 → 工具 → 反思」闭环</a:t>
              </a:r>
            </a:p>
          </p:txBody>
        </p:sp>
      </p:grpSp>
      <p:grpSp>
        <p:nvGrpSpPr>
          <p:cNvPr id="59" name="card-link"/>
          <p:cNvGrpSpPr/>
          <p:nvPr/>
        </p:nvGrpSpPr>
        <p:grpSpPr>
          <a:xfrm>
            <a:off x="6248400" y="3810000"/>
            <a:ext cx="5334000" cy="2247900"/>
            <a:chOff x="6248400" y="3810000"/>
            <a:chExt cx="5334000" cy="2247900"/>
          </a:xfrm>
        </p:grpSpPr>
        <p:sp>
          <p:nvSpPr>
            <p:cNvPr id="52" name="Rectangle 52"/>
            <p:cNvSpPr/>
            <p:nvPr/>
          </p:nvSpPr>
          <p:spPr>
            <a:xfrm>
              <a:off x="6248400" y="3810000"/>
              <a:ext cx="5334000" cy="2247900"/>
            </a:xfrm>
            <a:prstGeom prst="roundRect">
              <a:avLst>
                <a:gd name="adj" fmla="val 1695"/>
              </a:avLst>
            </a:prstGeom>
            <a:solidFill>
              <a:srgbClr val="F4F6F8"/>
            </a:solidFill>
            <a:ln>
              <a:noFill/>
            </a:ln>
          </p:spPr>
        </p:sp>
        <p:sp>
          <p:nvSpPr>
            <p:cNvPr id="53" name="Freeform 53"/>
            <p:cNvSpPr/>
            <p:nvPr/>
          </p:nvSpPr>
          <p:spPr>
            <a:xfrm>
              <a:off x="6248400" y="3810000"/>
              <a:ext cx="38100" cy="2247900"/>
            </a:xfrm>
            <a:custGeom>
              <a:avLst/>
              <a:gdLst/>
              <a:ahLst/>
              <a:cxnLst/>
              <a:rect l="l" t="t" r="r" b="b"/>
              <a:pathLst>
                <a:path w="38100" h="2247900">
                  <a:moveTo>
                    <a:pt x="0" y="0"/>
                  </a:moveTo>
                  <a:lnTo>
                    <a:pt x="38100" y="0"/>
                  </a:lnTo>
                  <a:lnTo>
                    <a:pt x="38100" y="2247900"/>
                  </a:lnTo>
                  <a:lnTo>
                    <a:pt x="0" y="2247900"/>
                  </a:lnTo>
                  <a:close/>
                </a:path>
              </a:pathLst>
            </a:custGeom>
            <a:solidFill>
              <a:srgbClr val="0E7C66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470142" y="39592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66"/>
                  </a:solidFill>
                  <a:latin typeface="Arial"/>
                  <a:ea typeface="Microsoft YaHei"/>
                  <a:cs typeface="Arial"/>
                </a:rPr>
                <a:t>与本项目的衔接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6486525" y="4410075"/>
              <a:ext cx="57150" cy="57150"/>
            </a:xfrm>
            <a:prstGeom prst="ellipse">
              <a:avLst/>
            </a:prstGeom>
            <a:solidFill>
              <a:srgbClr val="0E7C66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612255" y="4337050"/>
              <a:ext cx="4457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B1F24"/>
                  </a:solidFill>
                  <a:latin typeface="Arial"/>
                  <a:ea typeface="Microsoft YaHei"/>
                  <a:cs typeface="Arial"/>
                </a:rPr>
                <a:t>承接「下一步」：表格结构化抽取、标注对齐重评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6486525" y="4772025"/>
              <a:ext cx="57150" cy="57150"/>
            </a:xfrm>
            <a:prstGeom prst="ellipse">
              <a:avLst/>
            </a:prstGeom>
            <a:solidFill>
              <a:srgbClr val="0E7C66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612255" y="469900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B1F24"/>
                  </a:solidFill>
                  <a:latin typeface="Arial"/>
                  <a:ea typeface="Microsoft YaHei"/>
                  <a:cs typeface="Arial"/>
                </a:rPr>
                <a:t>上下文预算与安全加固是智能体落地的基础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97408" y="6438900"/>
            <a:ext cx="10997184" cy="234696"/>
            <a:chOff x="597408" y="6438900"/>
            <a:chExt cx="10997184" cy="234696"/>
          </a:xfrm>
        </p:grpSpPr>
        <p:sp>
          <p:nvSpPr>
            <p:cNvPr id="60" name="TextBox 60"/>
            <p:cNvSpPr txBox="1"/>
            <p:nvPr/>
          </p:nvSpPr>
          <p:spPr>
            <a:xfrm>
              <a:off x="597408" y="6438900"/>
              <a:ext cx="51471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472"/>
                  </a:solidFill>
                  <a:latin typeface="Arial"/>
                  <a:ea typeface="Microsoft YaHei"/>
                  <a:cs typeface="Arial"/>
                </a:rPr>
                <a:t>数据来源：项目内部修复记录与评测日志（2026-09-21 至 2026-10-10）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088366" y="6438900"/>
              <a:ext cx="50622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5A6472"/>
                  </a:solidFill>
                  <a:latin typeface="Arial"/>
                  <a:ea typeface="Arial"/>
                  <a:cs typeface="Arial"/>
                </a:rPr>
                <a:t>04 / 04</a:t>
              </a:r>
            </a:p>
          </p:txBody>
        </p:sp>
      </p:grpSp>
    </p:spTree>
  </p:cSld>
  <p:clrMapOvr>
    <a:masterClrMapping/>
  </p:clrMapOvr>
  <p:transition p14:dur="400">
    <p:fade/>
  </p:transition>
</p:sld>
</file>

<file path=ppt/theme/theme1.xml><?xml version="1.0" encoding="utf-8"?>
<a:theme xmlns:a="http://schemas.openxmlformats.org/drawingml/2006/main" name="energy-rag-report">
  <a:themeElements>
    <a:clrScheme name="energy-rag-report">
      <a:dk1>
        <a:srgbClr val="1B1F24"/>
      </a:dk1>
      <a:lt1>
        <a:srgbClr val="FFFFFF"/>
      </a:lt1>
      <a:dk2>
        <a:srgbClr val="1F497D"/>
      </a:dk2>
      <a:lt2>
        <a:srgbClr val="F4F6F8"/>
      </a:lt2>
      <a:accent1>
        <a:srgbClr val="0B3D66"/>
      </a:accent1>
      <a:accent2>
        <a:srgbClr val="0E7C66"/>
      </a:accent2>
      <a:accent3>
        <a:srgbClr val="1565C0"/>
      </a:accent3>
      <a:accent4>
        <a:srgbClr val="0B3D66"/>
      </a:accent4>
      <a:accent5>
        <a:srgbClr val="5A6472"/>
      </a:accent5>
      <a:accent6>
        <a:srgbClr val="D8DEE5"/>
      </a:accent6>
      <a:hlink>
        <a:srgbClr val="0E7C66"/>
      </a:hlink>
      <a:folHlink>
        <a:srgbClr val="1565C0"/>
      </a:folHlink>
    </a:clrScheme>
    <a:fontScheme name="energy-rag-report">
      <a:majorFont>
        <a:latin typeface="Times New Roman"/>
        <a:ea typeface="SimSun"/>
        <a:cs typeface="Times New Roman"/>
        <a:font script="Jpan" typeface="SimSun"/>
        <a:font script="Hang" typeface="SimSun"/>
        <a:font script="Hans" typeface="SimSun"/>
        <a:font script="Hant" typeface="SimSun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nergy-rag-repor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ns0:Properties xmlns:ns0="http://schemas.openxmlformats.org/officeDocument/2006/extended-properties" xmlns:ns1="http://schemas.openxmlformats.org/officeDocument/2006/docPropsVTypes">
  <ns0:TotalTime>1</ns0:TotalTime>
  <ns0:Words>0</ns0:Words>
  <ns0:Application>Microsoft Office PowerPoint</ns0:Application>
  <ns0:PresentationFormat>On-screen Show (16:9)</ns0:PresentationFormat>
  <ns0:Paragraphs>0</ns0:Paragraphs>
  <ns0:Slides>4</ns0:Slides>
  <ns0:Notes>0</ns0:Notes>
  <ns0:HiddenSlides>0</ns0:HiddenSlides>
  <ns0:MMClips>0</ns0:MMClips>
  <ns0:ScaleCrop>false</ns0:ScaleCrop>
  <ns0:HeadingPairs>
    <ns1:vector size="4" baseType="variant">
      <ns1:variant>
        <ns1:lpstr>Theme</ns1:lpstr>
      </ns1:variant>
      <ns1:variant>
        <ns1:i4>1</ns1:i4>
      </ns1:variant>
      <ns1:variant>
        <ns1:lpstr>Slide Titles</ns1:lpstr>
      </ns1:variant>
      <ns1:variant>
        <ns1:i4>0</ns1:i4>
      </ns1:variant>
    </ns1:vector>
  </ns0:HeadingPairs>
  <ns0:TitlesOfParts>
    <ns1:vector size="1" baseType="lpstr">
      <ns1:lpstr>Office Theme</ns1:lpstr>
    </ns1:vector>
  </ns0:TitlesOfParts>
  <ns0:Manager/>
  <ns0:Company/>
  <ns0:LinksUpToDate>false</ns0:LinksUpToDate>
  <ns0:SharedDoc>false</ns0:SharedDoc>
  <ns0:HyperlinkBase/>
  <ns0:HyperlinksChanged>false</ns0:HyperlinksChanged>
  <ns0:AppVersion>14.0000</ns0:AppVersion>
</ns0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2026-10-11T07:57:00Z</dcterms:created>
  <dcterms:modified xsi:type="dcterms:W3CDTF">2026-10-11T07:57:00Z</dcterms:modified>
  <cp:category/>
  <cp:contentStatus/>
</cp:coreProperties>
</file>