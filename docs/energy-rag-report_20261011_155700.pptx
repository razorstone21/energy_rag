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nergy-rag-repor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nergy-rag-repor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header"/>
          <p:cNvGrpSpPr/>
          <p:nvPr/>
        </p:nvGrpSpPr>
        <p:grpSpPr>
          <a:xfrm>
            <a:off x="594360" y="749300"/>
            <a:ext cx="4610100" cy="1422400"/>
            <a:chOff x="594360" y="749300"/>
            <a:chExt cx="4610100" cy="1422400"/>
          </a:xfrm>
        </p:grpSpPr>
        <p:grpSp>
          <p:nvGrpSpPr>
            <p:cNvPr id="4" name="Group 4"/>
            <p:cNvGrpSpPr/>
            <p:nvPr/>
          </p:nvGrpSpPr>
          <p:grpSpPr>
            <a:xfrm>
              <a:off x="631031" y="821531"/>
              <a:ext cx="128588" cy="71438"/>
              <a:chOff x="631031" y="821531"/>
              <a:chExt cx="128588" cy="714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631031" y="821531"/>
                <a:ext cx="12858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71438">
                    <a:moveTo>
                      <a:pt x="0" y="71438"/>
                    </a:moveTo>
                    <a:lnTo>
                      <a:pt x="42862" y="28575"/>
                    </a:lnTo>
                    <a:lnTo>
                      <a:pt x="71438" y="57150"/>
                    </a:lnTo>
                    <a:lnTo>
                      <a:pt x="128588" y="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709612" y="821531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0" y="0"/>
                    </a:moveTo>
                    <a:lnTo>
                      <a:pt x="50006" y="0"/>
                    </a:lnTo>
                    <a:lnTo>
                      <a:pt x="50006" y="50006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850392" y="74930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内部技术汇报 · 2026-10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4360" y="1079500"/>
              <a:ext cx="4610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能源文档 RAG 问答系统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170" y="1651000"/>
              <a:ext cx="2903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近期改动与当前状况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133600"/>
              <a:ext cx="11430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positioning"/>
          <p:cNvGrpSpPr/>
          <p:nvPr/>
        </p:nvGrpSpPr>
        <p:grpSpPr>
          <a:xfrm>
            <a:off x="600456" y="2654300"/>
            <a:ext cx="6894576" cy="644144"/>
            <a:chOff x="600456" y="2654300"/>
            <a:chExt cx="6894576" cy="644144"/>
          </a:xfrm>
        </p:grpSpPr>
        <p:sp>
          <p:nvSpPr>
            <p:cNvPr id="10" name="TextBox 10"/>
            <p:cNvSpPr txBox="1"/>
            <p:nvPr/>
          </p:nvSpPr>
          <p:spPr>
            <a:xfrm>
              <a:off x="602742" y="26543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2946400"/>
              <a:ext cx="6894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面向中文能源与政务文档的本地化 RAG 问答系统，数据不出域。</a:t>
              </a:r>
            </a:p>
          </p:txBody>
        </p:sp>
      </p:grpSp>
      <p:grpSp>
        <p:nvGrpSpPr>
          <p:cNvPr id="26" name="stack"/>
          <p:cNvGrpSpPr/>
          <p:nvPr/>
        </p:nvGrpSpPr>
        <p:grpSpPr>
          <a:xfrm>
            <a:off x="600456" y="3662362"/>
            <a:ext cx="10171716" cy="690182"/>
            <a:chOff x="600456" y="3662362"/>
            <a:chExt cx="10171716" cy="690182"/>
          </a:xfrm>
        </p:grpSpPr>
        <p:grpSp>
          <p:nvGrpSpPr>
            <p:cNvPr id="23" name="Group 23"/>
            <p:cNvGrpSpPr/>
            <p:nvPr/>
          </p:nvGrpSpPr>
          <p:grpSpPr>
            <a:xfrm>
              <a:off x="652462" y="3662362"/>
              <a:ext cx="257175" cy="257175"/>
              <a:chOff x="652462" y="3662362"/>
              <a:chExt cx="257175" cy="25717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81038" y="36909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185738"/>
                    </a:lnTo>
                    <a:cubicBezTo>
                      <a:pt x="200025" y="193628"/>
                      <a:pt x="193628" y="200025"/>
                      <a:pt x="185738" y="200025"/>
                    </a:cubicBezTo>
                    <a:lnTo>
                      <a:pt x="14288" y="200025"/>
                    </a:lnTo>
                    <a:cubicBezTo>
                      <a:pt x="6397" y="200025"/>
                      <a:pt x="0" y="193628"/>
                      <a:pt x="0" y="185738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38188" y="37480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0"/>
                    </a:lnTo>
                    <a:lnTo>
                      <a:pt x="85725" y="85725"/>
                    </a:lnTo>
                    <a:lnTo>
                      <a:pt x="0" y="85725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52462" y="37623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52462" y="3819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52475" y="366236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09625" y="366236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81062" y="376237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81062" y="3819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28575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9625" y="389096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52475" y="3890962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2857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59942" y="368300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0456" y="4000500"/>
              <a:ext cx="10171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Qwen3-14B-4bit / Qwen3-VL-8B / bge-m3 / bge-reranker-v2-m3 / Milvus / BM25+RRF</a:t>
              </a:r>
            </a:p>
          </p:txBody>
        </p:sp>
      </p:grpSp>
      <p:grpSp>
        <p:nvGrpSpPr>
          <p:cNvPr id="36" name="stat-band"/>
          <p:cNvGrpSpPr/>
          <p:nvPr/>
        </p:nvGrpSpPr>
        <p:grpSpPr>
          <a:xfrm>
            <a:off x="609600" y="4762500"/>
            <a:ext cx="10972800" cy="1295400"/>
            <a:chOff x="609600" y="4762500"/>
            <a:chExt cx="10972800" cy="1295400"/>
          </a:xfrm>
        </p:grpSpPr>
        <p:sp>
          <p:nvSpPr>
            <p:cNvPr id="27" name="Rectangle 27"/>
            <p:cNvSpPr/>
            <p:nvPr/>
          </p:nvSpPr>
          <p:spPr>
            <a:xfrm>
              <a:off x="609600" y="4762500"/>
              <a:ext cx="10972800" cy="1295400"/>
            </a:xfrm>
            <a:prstGeom prst="roundRect">
              <a:avLst>
                <a:gd name="adj" fmla="val 29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4267200" y="49911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924800" y="49911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95462" y="50355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语料规模（份）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77305" y="5410200"/>
              <a:ext cx="15221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 xml:space="preserve">47 → </a:t>
              </a:r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1164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53062" y="50355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全量重建失败数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01274" y="5410200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9794" y="50355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真实幻觉率（约）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75578" y="5410200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3%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03504" y="6438900"/>
              <a:ext cx="5278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数据来源：项目内部修复记录与评测日志（2026-09-21 至 2026-10-10）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09600" y="660400"/>
            <a:ext cx="10801350" cy="897255"/>
            <a:chOff x="609600" y="660400"/>
            <a:chExt cx="10801350" cy="897255"/>
          </a:xfrm>
        </p:grpSpPr>
        <p:sp>
          <p:nvSpPr>
            <p:cNvPr id="2" name="Rectangle 2"/>
            <p:cNvSpPr/>
            <p:nvPr/>
          </p:nvSpPr>
          <p:spPr>
            <a:xfrm>
              <a:off x="609600" y="723900"/>
              <a:ext cx="38100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2960" y="660400"/>
              <a:ext cx="51937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近期改动（9/21 – 10/10）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26770" y="1117600"/>
              <a:ext cx="10584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近三周五类改动：可用性修复、解析迁移、模型换代、评测体系、语料扩充</a:t>
              </a:r>
            </a:p>
          </p:txBody>
        </p:sp>
      </p:grpSp>
      <p:grpSp>
        <p:nvGrpSpPr>
          <p:cNvPr id="12" name="item-fix"/>
          <p:cNvGrpSpPr/>
          <p:nvPr/>
        </p:nvGrpSpPr>
        <p:grpSpPr>
          <a:xfrm>
            <a:off x="609600" y="1822450"/>
            <a:ext cx="10984230" cy="701675"/>
            <a:chOff x="609600" y="1822450"/>
            <a:chExt cx="10984230" cy="701675"/>
          </a:xfrm>
        </p:grpSpPr>
        <p:sp>
          <p:nvSpPr>
            <p:cNvPr id="6" name="Freeform 6"/>
            <p:cNvSpPr/>
            <p:nvPr/>
          </p:nvSpPr>
          <p:spPr>
            <a:xfrm>
              <a:off x="681038" y="189071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5756" y="182245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代码质量与可用性修复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8042" y="2178050"/>
              <a:ext cx="5474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流式卡死、会话标题注入、模型重复加载、--max-files 误删索引等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48594" y="18351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修复项数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04378" y="2076450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514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item-mineru"/>
          <p:cNvGrpSpPr/>
          <p:nvPr/>
        </p:nvGrpSpPr>
        <p:grpSpPr>
          <a:xfrm>
            <a:off x="609600" y="2679700"/>
            <a:ext cx="10984230" cy="701675"/>
            <a:chOff x="609600" y="2679700"/>
            <a:chExt cx="10984230" cy="701675"/>
          </a:xfrm>
        </p:grpSpPr>
        <p:grpSp>
          <p:nvGrpSpPr>
            <p:cNvPr id="18" name="Group 18"/>
            <p:cNvGrpSpPr/>
            <p:nvPr/>
          </p:nvGrpSpPr>
          <p:grpSpPr>
            <a:xfrm>
              <a:off x="681038" y="2690812"/>
              <a:ext cx="200025" cy="257175"/>
              <a:chOff x="681038" y="2690812"/>
              <a:chExt cx="200025" cy="25717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09625" y="26908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81038" y="2690812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57175">
                    <a:moveTo>
                      <a:pt x="171450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228600"/>
                    </a:lnTo>
                    <a:cubicBezTo>
                      <a:pt x="200025" y="244382"/>
                      <a:pt x="187232" y="257175"/>
                      <a:pt x="171450" y="2571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38188" y="2776538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38188" y="28336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38188" y="289083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95756" y="2679700"/>
              <a:ext cx="2432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PDF 解析迁移 MinerU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8042" y="30353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修表格列粘连、消除假表格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48594" y="26924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解析片段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38455" y="2933700"/>
              <a:ext cx="18553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1625 → 3604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371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3" name="item-model"/>
          <p:cNvGrpSpPr/>
          <p:nvPr/>
        </p:nvGrpSpPr>
        <p:grpSpPr>
          <a:xfrm>
            <a:off x="609600" y="3536950"/>
            <a:ext cx="10984230" cy="701675"/>
            <a:chOff x="609600" y="3536950"/>
            <a:chExt cx="10984230" cy="701675"/>
          </a:xfrm>
        </p:grpSpPr>
        <p:grpSp>
          <p:nvGrpSpPr>
            <p:cNvPr id="27" name="Group 27"/>
            <p:cNvGrpSpPr/>
            <p:nvPr/>
          </p:nvGrpSpPr>
          <p:grpSpPr>
            <a:xfrm>
              <a:off x="666750" y="3556837"/>
              <a:ext cx="228600" cy="239626"/>
              <a:chOff x="666750" y="3556837"/>
              <a:chExt cx="228600" cy="2396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66750" y="3556837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6750" y="3690938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95756" y="353695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模型与算力换代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8042" y="3892550"/>
              <a:ext cx="66759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RTX 3080Ti → 4090；Qwen3-8B → 14B-4bit；Qwen2.5-VL-3B → Qwen3-VL-8B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848594" y="3549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生成模型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42904" y="3790950"/>
              <a:ext cx="5509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2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14B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4229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4" name="item-eval"/>
          <p:cNvGrpSpPr/>
          <p:nvPr/>
        </p:nvGrpSpPr>
        <p:grpSpPr>
          <a:xfrm>
            <a:off x="609600" y="4394200"/>
            <a:ext cx="10984230" cy="701675"/>
            <a:chOff x="609600" y="4394200"/>
            <a:chExt cx="10984230" cy="701675"/>
          </a:xfrm>
        </p:grpSpPr>
        <p:grpSp>
          <p:nvGrpSpPr>
            <p:cNvPr id="38" name="Group 38"/>
            <p:cNvGrpSpPr/>
            <p:nvPr/>
          </p:nvGrpSpPr>
          <p:grpSpPr>
            <a:xfrm>
              <a:off x="652462" y="4419600"/>
              <a:ext cx="257175" cy="238125"/>
              <a:chOff x="652462" y="4419600"/>
              <a:chExt cx="257175" cy="2381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2462" y="4533900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00012"/>
                    </a:lnTo>
                    <a:cubicBezTo>
                      <a:pt x="85725" y="107903"/>
                      <a:pt x="79328" y="114300"/>
                      <a:pt x="71438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3912" y="4476750"/>
                <a:ext cx="857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57162"/>
                    </a:lnTo>
                    <a:cubicBezTo>
                      <a:pt x="85725" y="165053"/>
                      <a:pt x="79328" y="171450"/>
                      <a:pt x="7143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38188" y="4419600"/>
                <a:ext cx="85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214312"/>
                    </a:lnTo>
                    <a:cubicBezTo>
                      <a:pt x="85725" y="222203"/>
                      <a:pt x="79328" y="228600"/>
                      <a:pt x="71438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6750" y="464820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95756" y="43942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评测体系补强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8042" y="4749800"/>
              <a:ext cx="4793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重排截断 512 → 8192；分层抽样、断点续跑；外部判分模型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03204" y="4406900"/>
              <a:ext cx="886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hit@1 提升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71416" y="4648200"/>
              <a:ext cx="102241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+0.035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9600" y="5086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4" name="item-corpus"/>
          <p:cNvGrpSpPr/>
          <p:nvPr/>
        </p:nvGrpSpPr>
        <p:grpSpPr>
          <a:xfrm>
            <a:off x="609600" y="5251450"/>
            <a:ext cx="10984230" cy="701675"/>
            <a:chOff x="609600" y="5251450"/>
            <a:chExt cx="10984230" cy="701675"/>
          </a:xfrm>
        </p:grpSpPr>
        <p:grpSp>
          <p:nvGrpSpPr>
            <p:cNvPr id="48" name="Group 48"/>
            <p:cNvGrpSpPr/>
            <p:nvPr/>
          </p:nvGrpSpPr>
          <p:grpSpPr>
            <a:xfrm>
              <a:off x="666750" y="5262562"/>
              <a:ext cx="228600" cy="257176"/>
              <a:chOff x="666750" y="5262562"/>
              <a:chExt cx="228600" cy="25717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66750" y="526256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6750" y="53054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66750" y="539115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95756" y="52514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语料扩充与多格式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8042" y="5607050"/>
              <a:ext cx="4766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新增 DOC/DOCX/XLS/XLSX/WPS；解析缓存加速增量构建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848594" y="52641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语料文档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71640" y="5505450"/>
              <a:ext cx="15221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47 → 1164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7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603504" y="6438900"/>
              <a:ext cx="5278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数据来源：项目内部修复记录与评测日志（2026-09-21 至 2026-10-10）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09600" y="635000"/>
            <a:ext cx="8561070" cy="922655"/>
            <a:chOff x="609600" y="635000"/>
            <a:chExt cx="8561070" cy="922655"/>
          </a:xfrm>
        </p:grpSpPr>
        <p:sp>
          <p:nvSpPr>
            <p:cNvPr id="2" name="Rectangle 2"/>
            <p:cNvSpPr/>
            <p:nvPr/>
          </p:nvSpPr>
          <p:spPr>
            <a:xfrm>
              <a:off x="609600" y="723900"/>
              <a:ext cx="38100" cy="60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22960" y="63500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当前状况与下一步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26770" y="1117600"/>
              <a:ext cx="83439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索引、模型栈、质量指标现状，以及已知短板与下一步投入</a:t>
              </a:r>
            </a:p>
          </p:txBody>
        </p:sp>
      </p:grpSp>
      <p:grpSp>
        <p:nvGrpSpPr>
          <p:cNvPr id="13" name="status-index"/>
          <p:cNvGrpSpPr/>
          <p:nvPr/>
        </p:nvGrpSpPr>
        <p:grpSpPr>
          <a:xfrm>
            <a:off x="609600" y="1676400"/>
            <a:ext cx="3429000" cy="1905000"/>
            <a:chOff x="609600" y="167640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76400"/>
              <a:ext cx="3429000" cy="190500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76300" y="1857375"/>
              <a:ext cx="152400" cy="171450"/>
              <a:chOff x="876300" y="1857375"/>
              <a:chExt cx="152400" cy="171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76300" y="18573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6300" y="18859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6300" y="19431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6142" y="182562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索引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2133600"/>
              <a:ext cx="2426589" cy="932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1164 份文档全量重建成功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（0 失败），片段缓存与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构建清单一致</a:t>
              </a:r>
            </a:p>
          </p:txBody>
        </p:sp>
      </p:grpSp>
      <p:grpSp>
        <p:nvGrpSpPr>
          <p:cNvPr id="28" name="status-stack"/>
          <p:cNvGrpSpPr/>
          <p:nvPr/>
        </p:nvGrpSpPr>
        <p:grpSpPr>
          <a:xfrm>
            <a:off x="4343400" y="1676400"/>
            <a:ext cx="3429000" cy="1905000"/>
            <a:chOff x="4343400" y="1676400"/>
            <a:chExt cx="34290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4343400" y="1676400"/>
              <a:ext cx="3429000" cy="190500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600575" y="1857375"/>
              <a:ext cx="171450" cy="171450"/>
              <a:chOff x="4600575" y="1857375"/>
              <a:chExt cx="171450" cy="1714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619625" y="1876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657725" y="19145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600575" y="19240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600575" y="19621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667250" y="18573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705350" y="18573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752975" y="19240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52975" y="19621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05350" y="20097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67250" y="20097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869942" y="18256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5142" y="2146300"/>
              <a:ext cx="2662618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Qwen3-14B-4bit · Qwen3-VL-8B</a:t>
              </a:r>
              <a:b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bge-m3 · bge-reranker-v2-m3</a:t>
              </a:r>
              <a:b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单卡 RTX 4090 24G</a:t>
              </a:r>
            </a:p>
          </p:txBody>
        </p:sp>
      </p:grpSp>
      <p:grpSp>
        <p:nvGrpSpPr>
          <p:cNvPr id="38" name="status-metrics"/>
          <p:cNvGrpSpPr/>
          <p:nvPr/>
        </p:nvGrpSpPr>
        <p:grpSpPr>
          <a:xfrm>
            <a:off x="8077200" y="1676400"/>
            <a:ext cx="3429000" cy="1925955"/>
            <a:chOff x="8077200" y="1676400"/>
            <a:chExt cx="3429000" cy="1925955"/>
          </a:xfrm>
        </p:grpSpPr>
        <p:sp>
          <p:nvSpPr>
            <p:cNvPr id="29" name="Rectangle 29"/>
            <p:cNvSpPr/>
            <p:nvPr/>
          </p:nvSpPr>
          <p:spPr>
            <a:xfrm>
              <a:off x="8077200" y="1676400"/>
              <a:ext cx="3429000" cy="1905000"/>
            </a:xfrm>
            <a:prstGeom prst="roundRect">
              <a:avLst>
                <a:gd name="adj" fmla="val 2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334375" y="1866900"/>
              <a:ext cx="171450" cy="161925"/>
              <a:chOff x="8334375" y="1866900"/>
              <a:chExt cx="171450" cy="1619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34375" y="194310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48675" y="190500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91525" y="186690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43900" y="20193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603742" y="18256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质量指标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8942" y="2146300"/>
              <a:ext cx="870966" cy="1292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MRR</a:t>
              </a:r>
              <a:b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Recall@5</a:t>
              </a:r>
              <a:b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真实幻觉率</a:t>
              </a:r>
              <a:b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拒答率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23195" y="2133600"/>
              <a:ext cx="965835" cy="14687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2700"/>
                </a:lnSpc>
              </a:pPr>
              <a:r>
                <a:rPr lang="zh-CN" sz="22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0.8193</a:t>
              </a:r>
              <a:br>
                <a:rPr lang="zh-CN" sz="22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22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0.9145</a:t>
              </a:r>
              <a:br>
                <a:rPr lang="zh-CN" sz="22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2250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3%</a:t>
              </a:r>
              <a:br>
                <a:rPr lang="zh-CN" sz="2250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</a:br>
              <a:r>
                <a:rPr lang="zh-CN" sz="2250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100%</a:t>
              </a:r>
            </a:p>
          </p:txBody>
        </p:sp>
      </p:grpSp>
      <p:grpSp>
        <p:nvGrpSpPr>
          <p:cNvPr id="54" name="gaps"/>
          <p:cNvGrpSpPr/>
          <p:nvPr/>
        </p:nvGrpSpPr>
        <p:grpSpPr>
          <a:xfrm>
            <a:off x="609600" y="3810000"/>
            <a:ext cx="5334000" cy="2247900"/>
            <a:chOff x="609600" y="3810000"/>
            <a:chExt cx="5334000" cy="2247900"/>
          </a:xfrm>
        </p:grpSpPr>
        <p:sp>
          <p:nvSpPr>
            <p:cNvPr id="39" name="Rectangle 39"/>
            <p:cNvSpPr/>
            <p:nvPr/>
          </p:nvSpPr>
          <p:spPr>
            <a:xfrm>
              <a:off x="609600" y="3810000"/>
              <a:ext cx="5334000" cy="2247900"/>
            </a:xfrm>
            <a:prstGeom prst="roundRect">
              <a:avLst>
                <a:gd name="adj" fmla="val 16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9600" y="3810000"/>
              <a:ext cx="38100" cy="22479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56439" y="3987811"/>
              <a:ext cx="192114" cy="165051"/>
              <a:chOff x="856439" y="3987811"/>
              <a:chExt cx="192114" cy="165051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52500" y="40481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56439" y="39878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52500" y="4114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C6282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136142" y="39592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已知短板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847725" y="4410075"/>
              <a:ext cx="57150" cy="571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82218" y="4311650"/>
              <a:ext cx="2626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table / numeric 检索偏弱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47725" y="4772025"/>
              <a:ext cx="57150" cy="571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2218" y="4673600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figure 忠实度低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47725" y="5133975"/>
              <a:ext cx="57150" cy="571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2218" y="50355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上下文无词元预算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847725" y="5495925"/>
              <a:ext cx="57150" cy="5715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2218" y="53975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写接口无鉴权</a:t>
              </a:r>
            </a:p>
          </p:txBody>
        </p:sp>
      </p:grpSp>
      <p:grpSp>
        <p:nvGrpSpPr>
          <p:cNvPr id="67" name="next"/>
          <p:cNvGrpSpPr/>
          <p:nvPr/>
        </p:nvGrpSpPr>
        <p:grpSpPr>
          <a:xfrm>
            <a:off x="6248400" y="3810000"/>
            <a:ext cx="5334000" cy="2247900"/>
            <a:chOff x="6248400" y="3810000"/>
            <a:chExt cx="5334000" cy="2247900"/>
          </a:xfrm>
        </p:grpSpPr>
        <p:sp>
          <p:nvSpPr>
            <p:cNvPr id="55" name="Rectangle 55"/>
            <p:cNvSpPr/>
            <p:nvPr/>
          </p:nvSpPr>
          <p:spPr>
            <a:xfrm>
              <a:off x="6248400" y="3810000"/>
              <a:ext cx="5334000" cy="2247900"/>
            </a:xfrm>
            <a:prstGeom prst="roundRect">
              <a:avLst>
                <a:gd name="adj" fmla="val 16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48400" y="3810000"/>
              <a:ext cx="38100" cy="2247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70142" y="395922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467475" y="431482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40779" y="434340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11518" y="43116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表格结构化抽取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67475" y="46767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40779" y="47053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1518" y="46736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标注对齐后重评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467475" y="503872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40779" y="506730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11518" y="5035550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上下文预算与安全加固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603504" y="6438900"/>
            <a:ext cx="10984992" cy="234696"/>
            <a:chOff x="603504" y="6438900"/>
            <a:chExt cx="10984992" cy="234696"/>
          </a:xfrm>
        </p:grpSpPr>
        <p:sp>
          <p:nvSpPr>
            <p:cNvPr id="68" name="TextBox 68"/>
            <p:cNvSpPr txBox="1"/>
            <p:nvPr/>
          </p:nvSpPr>
          <p:spPr>
            <a:xfrm>
              <a:off x="603504" y="6438900"/>
              <a:ext cx="5278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数据来源：项目内部修复记录与评测日志（2026-09-21 至 2026-10-10）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035132" y="643890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nergy-rag-report">
  <a:themeElements>
    <a:clrScheme name="energy-rag-report">
      <a:dk1>
        <a:srgbClr val="1B1F24"/>
      </a:dk1>
      <a:lt1>
        <a:srgbClr val="FFFFFF"/>
      </a:lt1>
      <a:dk2>
        <a:srgbClr val="1F497D"/>
      </a:dk2>
      <a:lt2>
        <a:srgbClr val="F4F6F8"/>
      </a:lt2>
      <a:accent1>
        <a:srgbClr val="0B3D66"/>
      </a:accent1>
      <a:accent2>
        <a:srgbClr val="0E7C66"/>
      </a:accent2>
      <a:accent3>
        <a:srgbClr val="1565C0"/>
      </a:accent3>
      <a:accent4>
        <a:srgbClr val="0B3D66"/>
      </a:accent4>
      <a:accent5>
        <a:srgbClr val="5A6472"/>
      </a:accent5>
      <a:accent6>
        <a:srgbClr val="D8DEE5"/>
      </a:accent6>
      <a:hlink>
        <a:srgbClr val="0E7C66"/>
      </a:hlink>
      <a:folHlink>
        <a:srgbClr val="1565C0"/>
      </a:folHlink>
    </a:clrScheme>
    <a:fontScheme name="energy-rag-report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ergy-rag-repor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2026-10-11T07:57:00Z</dcterms:created>
  <dcterms:modified xsi:type="dcterms:W3CDTF">2026-10-11T07:57:00Z</dcterms:modified>
  <cp:category/>
  <cp:contentStatus/>
</cp:coreProperties>
</file>