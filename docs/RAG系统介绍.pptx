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9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8"/>
  </p:normalViewPr>
  <p:slideViewPr>
    <p:cSldViewPr snapToGrid="0" snapToObjects="1">
      <p:cViewPr varScale="1">
        <p:scale>
          <a:sx n="122" d="100"/>
          <a:sy n="122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F2937"/>
                </a:solidFill>
                <a:latin typeface="微软雅黑"/>
                <a:ea typeface="微软雅黑"/>
              </a:rPr>
              <a:t>RAG 问答系统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0607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5B6470"/>
                </a:solidFill>
                <a:latin typeface="微软雅黑"/>
                <a:ea typeface="微软雅黑"/>
              </a:rPr>
              <a:t>本地检索增强生成（RAG）系统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59152"/>
            <a:ext cx="73152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10424160" cy="24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500" b="0">
                <a:solidFill>
                  <a:srgbClr val="5B6470"/>
                </a:solidFill>
                <a:latin typeface="微软雅黑"/>
                <a:ea typeface="微软雅黑"/>
              </a:rPr>
              <a:t>所需模型均部署在本地，</a:t>
            </a:r>
            <a:r>
              <a:rPr sz="1500" b="0">
                <a:solidFill>
                  <a:srgbClr val="5B6470"/>
                </a:solidFill>
                <a:latin typeface="微软雅黑"/>
                <a:ea typeface="微软雅黑"/>
              </a:rPr>
              <a:t>文档解析、向量化、检索与生成全部在本机完成，不依赖外部服务</a:t>
            </a:r>
            <a:r>
              <a:rPr lang="zh-CN" altLang="en-US" sz="1500" b="0">
                <a:solidFill>
                  <a:srgbClr val="5B6470"/>
                </a:solidFill>
                <a:latin typeface="微软雅黑"/>
                <a:ea typeface="微软雅黑"/>
              </a:rPr>
              <a:t>。</a:t>
            </a:r>
            <a:endParaRPr sz="1500" b="0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3310128"/>
            <a:ext cx="914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325526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4F48"/>
                </a:solidFill>
                <a:latin typeface="微软雅黑"/>
                <a:ea typeface="微软雅黑"/>
              </a:rPr>
              <a:t>三种使用方式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75887"/>
            <a:ext cx="3383280" cy="1188720"/>
          </a:xfrm>
          <a:prstGeom prst="roundRect">
            <a:avLst>
              <a:gd name="adj" fmla="val 10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8408" y="3858768"/>
            <a:ext cx="82296" cy="8229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822191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命令行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245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470"/>
                </a:solidFill>
                <a:latin typeface="微软雅黑"/>
                <a:ea typeface="微软雅黑"/>
              </a:rPr>
              <a:t>python main.py build / ask / serve，
一键入库、问答与启动服务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3675887"/>
            <a:ext cx="3383280" cy="1188720"/>
          </a:xfrm>
          <a:prstGeom prst="roundRect">
            <a:avLst>
              <a:gd name="adj" fmla="val 10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1" y="3858768"/>
            <a:ext cx="82296" cy="8229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9744" y="3822191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Web 界面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42245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470"/>
                </a:solidFill>
                <a:latin typeface="微软雅黑"/>
                <a:ea typeface="微软雅黑"/>
              </a:rPr>
              <a:t>类通义千问布局，流式问答，
可展开参考来源与各阶段耗时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3675887"/>
            <a:ext cx="3383280" cy="1188720"/>
          </a:xfrm>
          <a:prstGeom prst="roundRect">
            <a:avLst>
              <a:gd name="adj" fmla="val 10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0456" y="3858768"/>
            <a:ext cx="82296" cy="8229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0767" y="3822191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编程接口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42245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470"/>
                </a:solidFill>
                <a:latin typeface="微软雅黑"/>
                <a:ea typeface="微软雅黑"/>
              </a:rPr>
              <a:t>create_runtime + pipeline.ask，
便于在自有系统中灵活集成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38928"/>
            <a:ext cx="914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5" y="508406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4F48"/>
                </a:solidFill>
                <a:latin typeface="微软雅黑"/>
                <a:ea typeface="微软雅黑"/>
              </a:rPr>
              <a:t>技术栈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504688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嵌入</a:t>
            </a:r>
            <a:r>
              <a:rPr lang="zh-CN" altLang="en-US" sz="1200" b="1">
                <a:solidFill>
                  <a:srgbClr val="0B4F48"/>
                </a:solidFill>
                <a:latin typeface="微软雅黑"/>
                <a:ea typeface="微软雅黑"/>
              </a:rPr>
              <a:t>模型</a:t>
            </a: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  BGE-M3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5504688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重排</a:t>
            </a:r>
            <a:r>
              <a:rPr lang="zh-CN" altLang="en-US" sz="1200" b="1">
                <a:solidFill>
                  <a:srgbClr val="0B4F48"/>
                </a:solidFill>
                <a:latin typeface="微软雅黑"/>
                <a:ea typeface="微软雅黑"/>
              </a:rPr>
              <a:t>模型</a:t>
            </a: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  bge-reranker-v2-m3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5504688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生成</a:t>
            </a:r>
            <a:r>
              <a:rPr lang="zh-CN" altLang="en-US" sz="1200" b="1">
                <a:solidFill>
                  <a:srgbClr val="0B4F48"/>
                </a:solidFill>
                <a:latin typeface="微软雅黑"/>
                <a:ea typeface="微软雅黑"/>
              </a:rPr>
              <a:t>模型</a:t>
            </a: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  Qwen3-8B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9903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图表理解</a:t>
            </a:r>
            <a:r>
              <a:rPr lang="zh-CN" altLang="en-US" sz="1200" b="1">
                <a:solidFill>
                  <a:srgbClr val="0B4F48"/>
                </a:solidFill>
                <a:latin typeface="微软雅黑"/>
                <a:ea typeface="微软雅黑"/>
              </a:rPr>
              <a:t>模型</a:t>
            </a: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  Qwen2.5-VL-3B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6089903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向量库  Milvus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9288" y="6089903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关键词检索  BM25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411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微软雅黑"/>
                <a:ea typeface="微软雅黑"/>
              </a:rPr>
              <a:t>运行流程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470"/>
                </a:solidFill>
                <a:latin typeface="微软雅黑"/>
                <a:ea typeface="微软雅黑"/>
              </a:rPr>
              <a:t>从原始文档到最终答案由两条流水线完成：入库构建索引、问答检索生成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入库 · 构建索引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04288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6968" y="241401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58844"/>
            <a:ext cx="4434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文档目录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按照后缀名分类文件，目前支持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pdf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txt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md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docx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xlsx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格式</a:t>
            </a:r>
            <a:endParaRPr sz="1000" b="0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808697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39691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6968" y="304941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39691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解析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正文 / 表格 / 图表描述 + 位置元数据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44100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094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6968" y="368482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75094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语义切分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按语义差异选断点，过滤过短片段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79503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10497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6968" y="432022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10497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向量化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BGE-M3 生成向量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14906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35267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6968" y="494499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35267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写入存储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Milvus + 片段缓存 + 构建清单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18288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B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问答 · 检索生成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2304288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241401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304288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问题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用户提问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98064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2907792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92240" y="30175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3062347"/>
            <a:ext cx="4434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查询改写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</a:t>
            </a:r>
            <a:r>
              <a:rPr lang="zh-CN" altLang="en-US" sz="1000">
                <a:solidFill>
                  <a:srgbClr val="5B6470"/>
                </a:solidFill>
                <a:latin typeface="微软雅黑"/>
                <a:ea typeface="微软雅黑"/>
              </a:rPr>
              <a:t>通过指代消解，将追问问题与前几次问题结合</a:t>
            </a:r>
            <a:endParaRPr sz="1000" b="0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82512" y="3401568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511296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92240" y="36210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3665851"/>
            <a:ext cx="4434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混合召回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向量召回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 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+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 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BM25 关键词召回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005072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2512" y="4114800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92240" y="42245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5432" y="4114800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融合重排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RRF 融合 + bge-reranker-v2-m3 精排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608576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4718304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492240" y="48280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5432" y="4872859"/>
            <a:ext cx="4434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组装提示词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检索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片段 + 历史对话 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+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 用户</a:t>
            </a:r>
            <a:r>
              <a:rPr lang="en-US" altLang="zh-CN" sz="1000" b="0">
                <a:solidFill>
                  <a:srgbClr val="5B6470"/>
                </a:solidFill>
                <a:latin typeface="微软雅黑"/>
                <a:ea typeface="微软雅黑"/>
              </a:rPr>
              <a:t>prompt</a:t>
            </a:r>
            <a:endParaRPr sz="1000" b="0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82512" y="5212080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2512" y="5321808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492240" y="54315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5432" y="5476363"/>
            <a:ext cx="4434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流式生成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Qwen3-8B </a:t>
            </a:r>
            <a:r>
              <a:rPr lang="zh-CN" altLang="en-US" sz="1000" b="0">
                <a:solidFill>
                  <a:srgbClr val="5B6470"/>
                </a:solidFill>
                <a:latin typeface="微软雅黑"/>
                <a:ea typeface="微软雅黑"/>
              </a:rPr>
              <a:t>流式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815584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A6AD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2512" y="5925312"/>
            <a:ext cx="5029200" cy="493776"/>
          </a:xfrm>
          <a:prstGeom prst="roundRect">
            <a:avLst>
              <a:gd name="adj" fmla="val 14000"/>
            </a:avLst>
          </a:prstGeom>
          <a:solidFill>
            <a:srgbClr val="F5FBF9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492240" y="60350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18288" rIns="45720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432" y="6079867"/>
            <a:ext cx="4434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来源</a:t>
            </a:r>
            <a:r>
              <a:rPr lang="zh-CN" altLang="en-US" sz="1200" b="1">
                <a:solidFill>
                  <a:srgbClr val="1F2937"/>
                </a:solidFill>
                <a:latin typeface="微软雅黑"/>
                <a:ea typeface="微软雅黑"/>
              </a:rPr>
              <a:t>、性能统计</a:t>
            </a:r>
            <a:r>
              <a:rPr sz="1000" b="0">
                <a:solidFill>
                  <a:srgbClr val="5B6470"/>
                </a:solidFill>
                <a:latin typeface="微软雅黑"/>
                <a:ea typeface="微软雅黑"/>
              </a:rPr>
              <a:t>　参考来源 + 各阶段耗时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微软雅黑"/>
                <a:ea typeface="微软雅黑"/>
              </a:rPr>
              <a:t>检索效果测评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33856"/>
            <a:ext cx="106070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300" b="0">
                <a:solidFill>
                  <a:srgbClr val="5B6470"/>
                </a:solidFill>
                <a:latin typeface="微软雅黑"/>
                <a:ea typeface="微软雅黑"/>
              </a:rPr>
              <a:t>共</a:t>
            </a:r>
            <a:r>
              <a:rPr lang="en-US" altLang="zh-CN" sz="1300" b="0">
                <a:solidFill>
                  <a:srgbClr val="5B6470"/>
                </a:solidFill>
                <a:latin typeface="微软雅黑"/>
                <a:ea typeface="微软雅黑"/>
              </a:rPr>
              <a:t>47</a:t>
            </a:r>
            <a:r>
              <a:rPr lang="zh-CN" altLang="en-US" sz="1300" b="0">
                <a:solidFill>
                  <a:srgbClr val="5B6470"/>
                </a:solidFill>
                <a:latin typeface="微软雅黑"/>
                <a:ea typeface="微软雅黑"/>
              </a:rPr>
              <a:t>份文档，包含</a:t>
            </a:r>
            <a:r>
              <a:rPr lang="en-US" altLang="zh-CN" sz="1300" b="0">
                <a:solidFill>
                  <a:srgbClr val="5B6470"/>
                </a:solidFill>
                <a:latin typeface="微软雅黑"/>
                <a:ea typeface="微软雅黑"/>
              </a:rPr>
              <a:t>p</a:t>
            </a:r>
            <a:r>
              <a:rPr lang="en-US" altLang="zh-CN" sz="1300">
                <a:solidFill>
                  <a:srgbClr val="5B6470"/>
                </a:solidFill>
                <a:latin typeface="微软雅黑"/>
                <a:ea typeface="微软雅黑"/>
              </a:rPr>
              <a:t>df</a:t>
            </a:r>
            <a:r>
              <a:rPr lang="zh-CN" altLang="en-US" sz="130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300" b="0">
                <a:solidFill>
                  <a:srgbClr val="5B6470"/>
                </a:solidFill>
                <a:latin typeface="微软雅黑"/>
                <a:ea typeface="微软雅黑"/>
              </a:rPr>
              <a:t>txt</a:t>
            </a:r>
            <a:r>
              <a:rPr lang="zh-CN" altLang="en-US" sz="1300" b="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300" b="0">
                <a:solidFill>
                  <a:srgbClr val="5B6470"/>
                </a:solidFill>
                <a:latin typeface="微软雅黑"/>
                <a:ea typeface="微软雅黑"/>
              </a:rPr>
              <a:t>md</a:t>
            </a:r>
            <a:r>
              <a:rPr lang="zh-CN" altLang="en-US" sz="1300" b="0">
                <a:solidFill>
                  <a:srgbClr val="5B6470"/>
                </a:solidFill>
                <a:latin typeface="微软雅黑"/>
                <a:ea typeface="微软雅黑"/>
              </a:rPr>
              <a:t>、</a:t>
            </a:r>
            <a:r>
              <a:rPr lang="en-US" altLang="zh-CN" sz="1300">
                <a:solidFill>
                  <a:srgbClr val="5B6470"/>
                </a:solidFill>
                <a:latin typeface="微软雅黑"/>
                <a:ea typeface="微软雅黑"/>
              </a:rPr>
              <a:t>docx</a:t>
            </a:r>
            <a:r>
              <a:rPr lang="zh-CN" altLang="en-US" sz="1300">
                <a:solidFill>
                  <a:srgbClr val="5B6470"/>
                </a:solidFill>
                <a:latin typeface="微软雅黑"/>
                <a:ea typeface="微软雅黑"/>
              </a:rPr>
              <a:t>等，</a:t>
            </a:r>
            <a:r>
              <a:rPr lang="zh-CN" altLang="en-US" sz="1300" b="0">
                <a:solidFill>
                  <a:srgbClr val="5B6470"/>
                </a:solidFill>
                <a:latin typeface="微软雅黑"/>
                <a:ea typeface="微软雅黑"/>
              </a:rPr>
              <a:t>共</a:t>
            </a:r>
            <a:r>
              <a:rPr sz="1300" b="0">
                <a:solidFill>
                  <a:srgbClr val="5B6470"/>
                </a:solidFill>
                <a:latin typeface="微软雅黑"/>
                <a:ea typeface="微软雅黑"/>
              </a:rPr>
              <a:t>16 道人工标注问题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1828800" cy="36576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重排收益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9164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纯向量</a:t>
            </a:r>
            <a:r>
              <a:rPr lang="zh-CN" altLang="en-US" sz="1100" b="0">
                <a:solidFill>
                  <a:srgbClr val="5B6470"/>
                </a:solidFill>
                <a:latin typeface="微软雅黑"/>
                <a:ea typeface="微软雅黑"/>
              </a:rPr>
              <a:t>检索</a:t>
            </a:r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 → 向量 + 重排（16 题平均）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2555748" cy="96012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31136"/>
            <a:ext cx="218998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5B6470"/>
                </a:solidFill>
                <a:latin typeface="微软雅黑"/>
                <a:ea typeface="微软雅黑"/>
              </a:rPr>
              <a:t>MRR</a:t>
            </a:r>
            <a:r>
              <a:rPr lang="zh-CN" altLang="en-US" sz="1100" b="1">
                <a:solidFill>
                  <a:srgbClr val="5B6470"/>
                </a:solidFill>
                <a:latin typeface="微软雅黑"/>
                <a:ea typeface="微软雅黑"/>
              </a:rPr>
              <a:t>（平均倒数排名）</a:t>
            </a:r>
          </a:p>
          <a:p>
            <a:endParaRPr sz="1100" b="1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505456"/>
            <a:ext cx="21899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5B6470"/>
                </a:solidFill>
                <a:latin typeface="微软雅黑"/>
                <a:ea typeface="微软雅黑"/>
              </a:rPr>
              <a:t>0.633  →  </a:t>
            </a:r>
            <a:r>
              <a:rPr sz="1600" b="1">
                <a:solidFill>
                  <a:srgbClr val="0F766E"/>
                </a:solidFill>
                <a:latin typeface="微软雅黑"/>
                <a:ea typeface="微软雅黑"/>
              </a:rPr>
              <a:t>0.802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2189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0B4F48"/>
                </a:solidFill>
                <a:latin typeface="微软雅黑"/>
                <a:ea typeface="微软雅黑"/>
              </a:rPr>
              <a:t>+0.169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148" y="2103120"/>
            <a:ext cx="2555748" cy="96012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3027" y="2231137"/>
            <a:ext cx="125921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5B6470"/>
                </a:solidFill>
                <a:latin typeface="微软雅黑"/>
                <a:ea typeface="微软雅黑"/>
              </a:rPr>
              <a:t>hit@1</a:t>
            </a:r>
            <a:r>
              <a:rPr lang="zh-CN" altLang="en-US" sz="1100" b="1">
                <a:solidFill>
                  <a:srgbClr val="5B6470"/>
                </a:solidFill>
                <a:latin typeface="微软雅黑"/>
                <a:ea typeface="微软雅黑"/>
              </a:rPr>
              <a:t> </a:t>
            </a:r>
            <a:r>
              <a:rPr lang="en-US" altLang="zh-CN" sz="1100" b="1">
                <a:solidFill>
                  <a:srgbClr val="5B6470"/>
                </a:solidFill>
                <a:latin typeface="微软雅黑"/>
                <a:ea typeface="微软雅黑"/>
              </a:rPr>
              <a:t>(</a:t>
            </a:r>
            <a:r>
              <a:rPr lang="zh-CN" altLang="en-US" sz="1100" b="1">
                <a:solidFill>
                  <a:srgbClr val="5B6470"/>
                </a:solidFill>
                <a:latin typeface="微软雅黑"/>
                <a:ea typeface="微软雅黑"/>
              </a:rPr>
              <a:t>命中率</a:t>
            </a:r>
            <a:r>
              <a:rPr lang="en-US" altLang="zh-CN" sz="1100" b="1">
                <a:solidFill>
                  <a:srgbClr val="5B6470"/>
                </a:solidFill>
                <a:latin typeface="微软雅黑"/>
                <a:ea typeface="微软雅黑"/>
              </a:rPr>
              <a:t>@k)</a:t>
            </a:r>
            <a:endParaRPr sz="1100" b="1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3028" y="2505456"/>
            <a:ext cx="21899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5B6470"/>
                </a:solidFill>
                <a:latin typeface="微软雅黑"/>
                <a:ea typeface="微软雅黑"/>
              </a:rPr>
              <a:t>0.563  →  </a:t>
            </a:r>
            <a:r>
              <a:rPr sz="1600" b="1">
                <a:solidFill>
                  <a:srgbClr val="0F766E"/>
                </a:solidFill>
                <a:latin typeface="微软雅黑"/>
                <a:ea typeface="微软雅黑"/>
              </a:rPr>
              <a:t>0.750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028" y="2816352"/>
            <a:ext cx="2189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0B4F48"/>
                </a:solidFill>
                <a:latin typeface="微软雅黑"/>
                <a:ea typeface="微软雅黑"/>
              </a:rPr>
              <a:t>+0.188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2103120"/>
            <a:ext cx="2555748" cy="96012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231136"/>
            <a:ext cx="218998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5B6470"/>
                </a:solidFill>
                <a:latin typeface="微软雅黑"/>
                <a:ea typeface="微软雅黑"/>
              </a:rPr>
              <a:t>recall@5</a:t>
            </a:r>
            <a:r>
              <a:rPr lang="en-US" sz="1100" b="1">
                <a:solidFill>
                  <a:srgbClr val="5B6470"/>
                </a:solidFill>
                <a:latin typeface="微软雅黑"/>
                <a:ea typeface="微软雅黑"/>
              </a:rPr>
              <a:t> (</a:t>
            </a:r>
            <a:r>
              <a:rPr lang="zh-CN" altLang="en-US" sz="1100" b="1">
                <a:solidFill>
                  <a:srgbClr val="5B6470"/>
                </a:solidFill>
                <a:latin typeface="微软雅黑"/>
                <a:ea typeface="微软雅黑"/>
              </a:rPr>
              <a:t>召回率</a:t>
            </a:r>
            <a:r>
              <a:rPr lang="en-US" altLang="zh-CN" sz="1100" b="1">
                <a:solidFill>
                  <a:srgbClr val="5B6470"/>
                </a:solidFill>
                <a:latin typeface="微软雅黑"/>
                <a:ea typeface="微软雅黑"/>
              </a:rPr>
              <a:t>@</a:t>
            </a:r>
            <a:r>
              <a:rPr lang="en-US" sz="1100" b="1">
                <a:solidFill>
                  <a:srgbClr val="5B6470"/>
                </a:solidFill>
                <a:latin typeface="微软雅黑"/>
                <a:ea typeface="微软雅黑"/>
              </a:rPr>
              <a:t>k)</a:t>
            </a:r>
            <a:endParaRPr sz="1100" b="1">
              <a:solidFill>
                <a:srgbClr val="5B647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45936" y="2505456"/>
            <a:ext cx="21899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5B6470"/>
                </a:solidFill>
                <a:latin typeface="微软雅黑"/>
                <a:ea typeface="微软雅黑"/>
              </a:rPr>
              <a:t>0.583  →  </a:t>
            </a:r>
            <a:r>
              <a:rPr sz="1600" b="1">
                <a:solidFill>
                  <a:srgbClr val="0F766E"/>
                </a:solidFill>
                <a:latin typeface="微软雅黑"/>
                <a:ea typeface="微软雅黑"/>
              </a:rPr>
              <a:t>0.7</a:t>
            </a:r>
            <a:r>
              <a:rPr lang="en-US" sz="1600" b="1">
                <a:solidFill>
                  <a:srgbClr val="0F766E"/>
                </a:solidFill>
                <a:latin typeface="微软雅黑"/>
                <a:ea typeface="微软雅黑"/>
              </a:rPr>
              <a:t>69</a:t>
            </a:r>
            <a:endParaRPr sz="1600" b="1">
              <a:solidFill>
                <a:srgbClr val="0F766E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45936" y="2816352"/>
            <a:ext cx="218998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0B4F48"/>
                </a:solidFill>
                <a:latin typeface="微软雅黑"/>
                <a:ea typeface="微软雅黑"/>
              </a:rPr>
              <a:t>+0.1</a:t>
            </a:r>
            <a:r>
              <a:rPr lang="en-US" sz="1100" b="1">
                <a:solidFill>
                  <a:srgbClr val="0B4F48"/>
                </a:solidFill>
                <a:latin typeface="微软雅黑"/>
                <a:ea typeface="微软雅黑"/>
              </a:rPr>
              <a:t>84</a:t>
            </a:r>
            <a:endParaRPr sz="1100" b="1">
              <a:solidFill>
                <a:srgbClr val="0B4F48"/>
              </a:solidFill>
              <a:latin typeface="微软雅黑"/>
              <a:ea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55963" y="2103120"/>
            <a:ext cx="2555748" cy="96012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38843" y="2231136"/>
            <a:ext cx="21899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5B6470"/>
                </a:solidFill>
                <a:latin typeface="微软雅黑"/>
                <a:ea typeface="微软雅黑"/>
              </a:rPr>
              <a:t>hit@5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8843" y="2505456"/>
            <a:ext cx="21899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5B6470"/>
                </a:solidFill>
                <a:latin typeface="微软雅黑"/>
                <a:ea typeface="微软雅黑"/>
              </a:rPr>
              <a:t>0.688  →  </a:t>
            </a:r>
            <a:r>
              <a:rPr sz="1600" b="1">
                <a:solidFill>
                  <a:srgbClr val="0F766E"/>
                </a:solidFill>
                <a:latin typeface="微软雅黑"/>
                <a:ea typeface="微软雅黑"/>
              </a:rPr>
              <a:t>0.875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843" y="2816352"/>
            <a:ext cx="2189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>
                <a:solidFill>
                  <a:srgbClr val="0B4F48"/>
                </a:solidFill>
                <a:latin typeface="微软雅黑"/>
                <a:ea typeface="微软雅黑"/>
              </a:rPr>
              <a:t>+0.188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46120"/>
            <a:ext cx="1828800" cy="36576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分块方式对比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03320"/>
            <a:ext cx="3453414" cy="960120"/>
          </a:xfrm>
          <a:prstGeom prst="roundRect">
            <a:avLst/>
          </a:prstGeom>
          <a:solidFill>
            <a:srgbClr val="E7F4F0"/>
          </a:solidFill>
          <a:ln w="1524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3831335"/>
            <a:ext cx="30876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0B4F48"/>
                </a:solidFill>
                <a:latin typeface="微软雅黑"/>
                <a:ea typeface="微软雅黑"/>
              </a:rPr>
              <a:t>语义分块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178808"/>
            <a:ext cx="308765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hit@1  </a:t>
            </a:r>
            <a:r>
              <a:rPr sz="1250" b="1">
                <a:solidFill>
                  <a:srgbClr val="1F2937"/>
                </a:solidFill>
                <a:latin typeface="微软雅黑"/>
                <a:ea typeface="微软雅黑"/>
              </a:rPr>
              <a:t>0.750</a:t>
            </a:r>
          </a:p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MRR    </a:t>
            </a:r>
            <a:r>
              <a:rPr sz="1250" b="1">
                <a:solidFill>
                  <a:srgbClr val="1F2937"/>
                </a:solidFill>
                <a:latin typeface="微软雅黑"/>
                <a:ea typeface="微软雅黑"/>
              </a:rPr>
              <a:t>0.802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7422" y="3813048"/>
            <a:ext cx="54864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最优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7814" y="3703320"/>
            <a:ext cx="3453414" cy="96012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0694" y="3831335"/>
            <a:ext cx="30876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微软雅黑"/>
                <a:ea typeface="微软雅黑"/>
              </a:rPr>
              <a:t>递归字符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0694" y="4178808"/>
            <a:ext cx="308765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hit@1  </a:t>
            </a:r>
            <a:r>
              <a:rPr sz="1250" b="1">
                <a:solidFill>
                  <a:srgbClr val="1F2937"/>
                </a:solidFill>
                <a:latin typeface="微软雅黑"/>
                <a:ea typeface="微软雅黑"/>
              </a:rPr>
              <a:t>0.563</a:t>
            </a:r>
          </a:p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MRR    </a:t>
            </a:r>
            <a:r>
              <a:rPr sz="1250" b="1">
                <a:solidFill>
                  <a:srgbClr val="1F2937"/>
                </a:solidFill>
                <a:latin typeface="微软雅黑"/>
                <a:ea typeface="微软雅黑"/>
              </a:rPr>
              <a:t>0.615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8388" y="3703320"/>
            <a:ext cx="3453414" cy="96012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41268" y="3831335"/>
            <a:ext cx="30876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1F2937"/>
                </a:solidFill>
                <a:latin typeface="微软雅黑"/>
                <a:ea typeface="微软雅黑"/>
              </a:rPr>
              <a:t>Element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1268" y="4178808"/>
            <a:ext cx="308765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hit@1  </a:t>
            </a:r>
            <a:r>
              <a:rPr sz="1250" b="1">
                <a:solidFill>
                  <a:srgbClr val="1F2937"/>
                </a:solidFill>
                <a:latin typeface="微软雅黑"/>
                <a:ea typeface="微软雅黑"/>
              </a:rPr>
              <a:t>0.438</a:t>
            </a:r>
          </a:p>
          <a:p>
            <a:r>
              <a:rPr sz="1100" b="0">
                <a:solidFill>
                  <a:srgbClr val="5B6470"/>
                </a:solidFill>
                <a:latin typeface="微软雅黑"/>
                <a:ea typeface="微软雅黑"/>
              </a:rPr>
              <a:t>MRR    </a:t>
            </a:r>
            <a:r>
              <a:rPr sz="1250" b="1">
                <a:solidFill>
                  <a:srgbClr val="1F2937"/>
                </a:solidFill>
                <a:latin typeface="微软雅黑"/>
                <a:ea typeface="微软雅黑"/>
              </a:rPr>
              <a:t>0.453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46320"/>
            <a:ext cx="1828800" cy="36576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结论与局限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321808"/>
            <a:ext cx="10634472" cy="1234440"/>
          </a:xfrm>
          <a:prstGeom prst="roundRect">
            <a:avLst/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5431536"/>
            <a:ext cx="10149840" cy="68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重排对语义分块是</a:t>
            </a:r>
            <a:r>
              <a:rPr lang="zh-CN" altLang="en-US" sz="1200" b="1">
                <a:solidFill>
                  <a:srgbClr val="1F2937"/>
                </a:solidFill>
                <a:latin typeface="微软雅黑"/>
                <a:ea typeface="微软雅黑"/>
              </a:rPr>
              <a:t>具有</a:t>
            </a: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正收益：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MRR +0.169、hit@1 +0.188，排序位置的改善比召回数量的提升更明显。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语义分块在全部指标上均为三种分块方式最高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，MRR 为递归字符的 1.31 倍、Element 的 1.77 倍。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4F48"/>
                </a:solidFill>
                <a:latin typeface="微软雅黑"/>
                <a:ea typeface="微软雅黑"/>
              </a:rPr>
              <a:t>▪ </a:t>
            </a: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局限</a:t>
            </a:r>
            <a:r>
              <a:rPr lang="zh-CN" altLang="en-US" sz="1200" b="1">
                <a:solidFill>
                  <a:srgbClr val="1F2937"/>
                </a:solidFill>
                <a:latin typeface="微软雅黑"/>
                <a:ea typeface="微软雅黑"/>
              </a:rPr>
              <a:t>：</a:t>
            </a:r>
            <a:r>
              <a:rPr lang="zh-CN" altLang="en-US" sz="1200">
                <a:solidFill>
                  <a:srgbClr val="1F2937"/>
                </a:solidFill>
                <a:latin typeface="微软雅黑"/>
                <a:ea typeface="微软雅黑"/>
              </a:rPr>
              <a:t>测试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样本仅 16 题，</a:t>
            </a:r>
            <a:r>
              <a:rPr lang="en-US" sz="1200" b="0">
                <a:solidFill>
                  <a:srgbClr val="1F2937"/>
                </a:solidFill>
                <a:latin typeface="微软雅黑"/>
                <a:ea typeface="微软雅黑"/>
              </a:rPr>
              <a:t>数量偏少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文档库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200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共 47 份中文能源与政务文档，时间跨度 1978—2026 年，语义切分后得到 1625 个检索片段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语料概况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555748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31136"/>
            <a:ext cx="2189988" cy="338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文档总数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21899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47 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21899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PDF 44 · 其他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148" y="2103120"/>
            <a:ext cx="2555748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3028" y="2231136"/>
            <a:ext cx="2189988" cy="338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PDF 页数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028" y="2505456"/>
            <a:ext cx="21899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826 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3028" y="2816352"/>
            <a:ext cx="21899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平均每份 19 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2103120"/>
            <a:ext cx="2555748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5" y="2231136"/>
            <a:ext cx="2189988" cy="338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检索片段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5" y="2505456"/>
            <a:ext cx="21899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1625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5" y="2816352"/>
            <a:ext cx="21899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语义切分结果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5963" y="2103120"/>
            <a:ext cx="2555748" cy="96012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8843" y="2231136"/>
            <a:ext cx="2189988" cy="338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时间跨度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8843" y="2505456"/>
            <a:ext cx="21899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1978—2026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8843" y="2816352"/>
            <a:ext cx="21899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4F48"/>
                </a:solidFill>
                <a:latin typeface="微软雅黑"/>
                <a:ea typeface="微软雅黑"/>
                <a:cs typeface="微软雅黑"/>
              </a:rPr>
              <a:t>2020 年后 35 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0040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主题分布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75888"/>
            <a:ext cx="3453414" cy="1041408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22192"/>
            <a:ext cx="210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电力市场与价格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120" y="3822192"/>
            <a:ext cx="9876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11 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160520"/>
            <a:ext cx="308765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现货与中长期市场规则、容量电价与代理购电、跨省跨区输电价格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7814" y="3675888"/>
            <a:ext cx="3453414" cy="1041408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0694" y="3822192"/>
            <a:ext cx="210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行业年度报告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0694" y="3822192"/>
            <a:ext cx="9876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10 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0694" y="4160520"/>
            <a:ext cx="308765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绿证、绿色燃料、氢能、天然气、储能、核电、供电、生态环境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8388" y="3675888"/>
            <a:ext cx="3453414" cy="1041408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1268" y="3822192"/>
            <a:ext cx="210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安全监管与合规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68" y="3822192"/>
            <a:ext cx="9876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9 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1268" y="4160520"/>
            <a:ext cx="308765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电力安全、可靠性、二次系统、资质许可、监管条例、数据分级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27024"/>
            <a:ext cx="3453414" cy="1041408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973328"/>
            <a:ext cx="210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新型电力系统与规划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0120" y="4973328"/>
            <a:ext cx="9876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8 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311656"/>
            <a:ext cx="308765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新型电力系统行动方案、四项“十五五”规划、非化石能源核算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7814" y="4827024"/>
            <a:ext cx="3453414" cy="1041408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0694" y="4973328"/>
            <a:ext cx="210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体制改革与历史文件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0694" y="4973328"/>
            <a:ext cx="9876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6 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0694" y="5311656"/>
            <a:ext cx="308765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1986—2007 年历次电力体制改革文件与早期价格文件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8388" y="4827024"/>
            <a:ext cx="3453414" cy="1041408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1268" y="4973328"/>
            <a:ext cx="2100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需求侧与节能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68" y="4973328"/>
            <a:ext cx="98765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3 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41268" y="5311656"/>
            <a:ext cx="308765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B6470"/>
                </a:solidFill>
                <a:latin typeface="微软雅黑"/>
                <a:ea typeface="微软雅黑"/>
                <a:cs typeface="微软雅黑"/>
              </a:rPr>
              <a:t>电力需求侧管理办法、电力负荷管理办法、能效标识产品目录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978160"/>
            <a:ext cx="10634472" cy="685800"/>
          </a:xfrm>
          <a:prstGeom prst="roundRect">
            <a:avLst>
              <a:gd name="adj" fmla="val 16667"/>
            </a:avLst>
          </a:prstGeom>
          <a:solidFill>
            <a:srgbClr val="F5FBF9"/>
          </a:solidFill>
          <a:ln w="9525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" y="6087888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覆盖 4 种解析格式：PDF 44 份，DOCX / TXT / MD 各 1 份；扫描件由视觉模型生成图表描述后入库。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每个片段随附文件名、标题路径与页码（或段落范围）等元数据，回答时据此回溯原文位置。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337</Words>
  <Application>Microsoft Macintosh PowerPoint</Application>
  <PresentationFormat>宽屏</PresentationFormat>
  <Paragraphs>86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HO1927</cp:lastModifiedBy>
  <cp:revision>6</cp:revision>
  <dcterms:created xsi:type="dcterms:W3CDTF">2013-01-27T09:14:16Z</dcterms:created>
  <dcterms:modified xsi:type="dcterms:W3CDTF">2026-09-15T13:23:57Z</dcterms:modified>
  <cp:category/>
</cp:coreProperties>
</file>